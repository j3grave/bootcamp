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5" r:id="rId2"/>
    <p:sldId id="2147473042" r:id="rId3"/>
    <p:sldId id="2147473041" r:id="rId4"/>
    <p:sldId id="2147473043" r:id="rId5"/>
    <p:sldId id="2147473044" r:id="rId6"/>
    <p:sldId id="214747304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76FF"/>
    <a:srgbClr val="78A3FF"/>
    <a:srgbClr val="00A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29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66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47568-5EEC-BCF6-DD6E-3628E8C8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0B63E-4238-BC4B-44D4-28F03E9D3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B86AE-F6C5-3005-ABA0-C919A44A5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pipeline está concluído até à preparação para modelação: 5 fontes unidas numa base de 7.043 clientes, validada, explorada e convertida em 48 features. O próximo passo é a modelação ensemble, com o objetivo de superar o AUC de 0,941 do Churn Score da IBM no mesmo holdout. Depois, a priorização por P(churn) × CLTV.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0019A-C948-D781-FCF3-F18BC76E4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1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4159-FE8A-8851-0F40-67C1A61D5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D123D-B873-6C02-542D-8831FEED8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53E0B-0E31-1B11-A821-00DB65549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Temos cinco ficheiros: quatro ao nível do cliente, unidos por Customer ID, e um ao nível do ZIP code. Services é a fonte mais rica, com 25 das 32 features originais. Status dá origem ao target e às colunas de negócio (benchmark IBM e CLTV), que não entram no modelo. Das 62 colunas iniciais chegamos a 41 no dataset final e a 48 features após one-hot.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27FB2-E1B5-1089-D842-1EC146512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28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3985898" y="1231671"/>
            <a:ext cx="6387825" cy="252292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t>Title Text</a:t>
            </a:r>
          </a:p>
        </p:txBody>
      </p:sp>
      <p:sp>
        <p:nvSpPr>
          <p:cNvPr id="164" name="Forma livre: Forma 9"/>
          <p:cNvSpPr/>
          <p:nvPr/>
        </p:nvSpPr>
        <p:spPr>
          <a:xfrm>
            <a:off x="0" y="695738"/>
            <a:ext cx="2732852" cy="5466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518"/>
                </a:moveTo>
                <a:lnTo>
                  <a:pt x="2163" y="20518"/>
                </a:lnTo>
                <a:lnTo>
                  <a:pt x="2163" y="21600"/>
                </a:lnTo>
                <a:lnTo>
                  <a:pt x="0" y="21600"/>
                </a:lnTo>
                <a:close/>
                <a:moveTo>
                  <a:pt x="2163" y="18359"/>
                </a:moveTo>
                <a:lnTo>
                  <a:pt x="10803" y="18359"/>
                </a:lnTo>
                <a:lnTo>
                  <a:pt x="10803" y="20518"/>
                </a:lnTo>
                <a:lnTo>
                  <a:pt x="2163" y="20518"/>
                </a:lnTo>
                <a:close/>
                <a:moveTo>
                  <a:pt x="10803" y="16199"/>
                </a:moveTo>
                <a:lnTo>
                  <a:pt x="15123" y="16199"/>
                </a:lnTo>
                <a:lnTo>
                  <a:pt x="15123" y="18359"/>
                </a:lnTo>
                <a:lnTo>
                  <a:pt x="10803" y="18359"/>
                </a:lnTo>
                <a:close/>
                <a:moveTo>
                  <a:pt x="0" y="15118"/>
                </a:moveTo>
                <a:lnTo>
                  <a:pt x="6477" y="15118"/>
                </a:lnTo>
                <a:lnTo>
                  <a:pt x="6477" y="17277"/>
                </a:lnTo>
                <a:lnTo>
                  <a:pt x="0" y="17277"/>
                </a:lnTo>
                <a:close/>
                <a:moveTo>
                  <a:pt x="6483" y="12958"/>
                </a:moveTo>
                <a:lnTo>
                  <a:pt x="10803" y="12958"/>
                </a:lnTo>
                <a:lnTo>
                  <a:pt x="10803" y="15118"/>
                </a:lnTo>
                <a:lnTo>
                  <a:pt x="6483" y="15118"/>
                </a:lnTo>
                <a:close/>
                <a:moveTo>
                  <a:pt x="19443" y="9720"/>
                </a:moveTo>
                <a:lnTo>
                  <a:pt x="21600" y="9720"/>
                </a:lnTo>
                <a:lnTo>
                  <a:pt x="21600" y="11880"/>
                </a:lnTo>
                <a:lnTo>
                  <a:pt x="19443" y="11880"/>
                </a:lnTo>
                <a:close/>
                <a:moveTo>
                  <a:pt x="6483" y="6479"/>
                </a:moveTo>
                <a:lnTo>
                  <a:pt x="10803" y="6479"/>
                </a:lnTo>
                <a:lnTo>
                  <a:pt x="10803" y="8639"/>
                </a:lnTo>
                <a:lnTo>
                  <a:pt x="6483" y="8639"/>
                </a:lnTo>
                <a:close/>
                <a:moveTo>
                  <a:pt x="15123" y="5401"/>
                </a:moveTo>
                <a:lnTo>
                  <a:pt x="19443" y="5401"/>
                </a:lnTo>
                <a:lnTo>
                  <a:pt x="19443" y="9720"/>
                </a:lnTo>
                <a:lnTo>
                  <a:pt x="15123" y="9720"/>
                </a:lnTo>
                <a:lnTo>
                  <a:pt x="15123" y="11880"/>
                </a:lnTo>
                <a:lnTo>
                  <a:pt x="19443" y="11880"/>
                </a:lnTo>
                <a:lnTo>
                  <a:pt x="19443" y="16199"/>
                </a:lnTo>
                <a:lnTo>
                  <a:pt x="15123" y="16199"/>
                </a:lnTo>
                <a:lnTo>
                  <a:pt x="15123" y="12958"/>
                </a:lnTo>
                <a:lnTo>
                  <a:pt x="10803" y="12958"/>
                </a:lnTo>
                <a:lnTo>
                  <a:pt x="10803" y="8639"/>
                </a:lnTo>
                <a:lnTo>
                  <a:pt x="15123" y="8639"/>
                </a:lnTo>
                <a:close/>
                <a:moveTo>
                  <a:pt x="0" y="4319"/>
                </a:moveTo>
                <a:lnTo>
                  <a:pt x="6477" y="4319"/>
                </a:lnTo>
                <a:lnTo>
                  <a:pt x="6477" y="6479"/>
                </a:lnTo>
                <a:lnTo>
                  <a:pt x="0" y="6479"/>
                </a:lnTo>
                <a:close/>
                <a:moveTo>
                  <a:pt x="10803" y="3238"/>
                </a:moveTo>
                <a:lnTo>
                  <a:pt x="15123" y="3238"/>
                </a:lnTo>
                <a:lnTo>
                  <a:pt x="15123" y="5397"/>
                </a:lnTo>
                <a:lnTo>
                  <a:pt x="10803" y="5397"/>
                </a:lnTo>
                <a:close/>
                <a:moveTo>
                  <a:pt x="2163" y="1078"/>
                </a:moveTo>
                <a:lnTo>
                  <a:pt x="10803" y="1078"/>
                </a:lnTo>
                <a:lnTo>
                  <a:pt x="10803" y="3238"/>
                </a:lnTo>
                <a:lnTo>
                  <a:pt x="2163" y="3238"/>
                </a:lnTo>
                <a:close/>
                <a:moveTo>
                  <a:pt x="0" y="0"/>
                </a:moveTo>
                <a:lnTo>
                  <a:pt x="2157" y="0"/>
                </a:lnTo>
                <a:lnTo>
                  <a:pt x="2157" y="1078"/>
                </a:lnTo>
                <a:lnTo>
                  <a:pt x="0" y="1078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6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985897" y="3965712"/>
            <a:ext cx="6387825" cy="5933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Borna"/>
                <a:ea typeface="Borna"/>
                <a:cs typeface="Borna"/>
                <a:sym typeface="Borna"/>
              </a:defRPr>
            </a:lvl1pPr>
            <a:lvl2pPr marL="0" indent="457200">
              <a:buSzTx/>
              <a:buNone/>
              <a:defRPr sz="2400">
                <a:latin typeface="Borna"/>
                <a:ea typeface="Borna"/>
                <a:cs typeface="Borna"/>
                <a:sym typeface="Borna"/>
              </a:defRPr>
            </a:lvl2pPr>
            <a:lvl3pPr marL="0" indent="914400">
              <a:buSzTx/>
              <a:buNone/>
              <a:defRPr sz="2400">
                <a:latin typeface="Borna"/>
                <a:ea typeface="Borna"/>
                <a:cs typeface="Borna"/>
                <a:sym typeface="Borna"/>
              </a:defRPr>
            </a:lvl3pPr>
            <a:lvl4pPr marL="0" indent="1371600">
              <a:buSzTx/>
              <a:buNone/>
              <a:defRPr sz="2400">
                <a:latin typeface="Borna"/>
                <a:ea typeface="Borna"/>
                <a:cs typeface="Borna"/>
                <a:sym typeface="Borna"/>
              </a:defRPr>
            </a:lvl4pPr>
            <a:lvl5pPr marL="0" indent="1828800">
              <a:buSzTx/>
              <a:buNone/>
              <a:defRPr sz="2400">
                <a:latin typeface="Borna"/>
                <a:ea typeface="Borna"/>
                <a:cs typeface="Borna"/>
                <a:sym typeface="Borna"/>
              </a:defRPr>
            </a:lvl5pPr>
          </a:lstStyle>
          <a:p>
            <a:r>
              <a:t>Clique para editar o estilo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6CB4B4D-7CA3-9044-876B-883B54F8677D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5076945"/>
      </p:ext>
    </p:extLst>
  </p:cSld>
  <p:clrMapOvr>
    <a:masterClrMapping/>
  </p:clrMapOvr>
  <p:transition spd="med"/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radecimen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Forma livre: Forma 5"/>
          <p:cNvSpPr/>
          <p:nvPr/>
        </p:nvSpPr>
        <p:spPr>
          <a:xfrm rot="5400000">
            <a:off x="7324019" y="-1441607"/>
            <a:ext cx="2882349" cy="57655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518"/>
                </a:moveTo>
                <a:lnTo>
                  <a:pt x="2163" y="20518"/>
                </a:lnTo>
                <a:lnTo>
                  <a:pt x="2163" y="21600"/>
                </a:lnTo>
                <a:lnTo>
                  <a:pt x="0" y="21600"/>
                </a:lnTo>
                <a:close/>
                <a:moveTo>
                  <a:pt x="2163" y="18359"/>
                </a:moveTo>
                <a:lnTo>
                  <a:pt x="10803" y="18359"/>
                </a:lnTo>
                <a:lnTo>
                  <a:pt x="10803" y="20518"/>
                </a:lnTo>
                <a:lnTo>
                  <a:pt x="2163" y="20518"/>
                </a:lnTo>
                <a:close/>
                <a:moveTo>
                  <a:pt x="10803" y="16199"/>
                </a:moveTo>
                <a:lnTo>
                  <a:pt x="15123" y="16199"/>
                </a:lnTo>
                <a:lnTo>
                  <a:pt x="15123" y="18359"/>
                </a:lnTo>
                <a:lnTo>
                  <a:pt x="10803" y="18359"/>
                </a:lnTo>
                <a:close/>
                <a:moveTo>
                  <a:pt x="0" y="15118"/>
                </a:moveTo>
                <a:lnTo>
                  <a:pt x="6477" y="15118"/>
                </a:lnTo>
                <a:lnTo>
                  <a:pt x="6477" y="17277"/>
                </a:lnTo>
                <a:lnTo>
                  <a:pt x="0" y="17277"/>
                </a:lnTo>
                <a:close/>
                <a:moveTo>
                  <a:pt x="6483" y="12958"/>
                </a:moveTo>
                <a:lnTo>
                  <a:pt x="10803" y="12958"/>
                </a:lnTo>
                <a:lnTo>
                  <a:pt x="10803" y="15118"/>
                </a:lnTo>
                <a:lnTo>
                  <a:pt x="6483" y="15118"/>
                </a:lnTo>
                <a:close/>
                <a:moveTo>
                  <a:pt x="19443" y="9720"/>
                </a:moveTo>
                <a:lnTo>
                  <a:pt x="21600" y="9720"/>
                </a:lnTo>
                <a:lnTo>
                  <a:pt x="21600" y="11880"/>
                </a:lnTo>
                <a:lnTo>
                  <a:pt x="19443" y="11880"/>
                </a:lnTo>
                <a:close/>
                <a:moveTo>
                  <a:pt x="6483" y="6479"/>
                </a:moveTo>
                <a:lnTo>
                  <a:pt x="10803" y="6479"/>
                </a:lnTo>
                <a:lnTo>
                  <a:pt x="10803" y="8639"/>
                </a:lnTo>
                <a:lnTo>
                  <a:pt x="6483" y="8639"/>
                </a:lnTo>
                <a:close/>
                <a:moveTo>
                  <a:pt x="15123" y="5401"/>
                </a:moveTo>
                <a:lnTo>
                  <a:pt x="19443" y="5401"/>
                </a:lnTo>
                <a:lnTo>
                  <a:pt x="19443" y="9720"/>
                </a:lnTo>
                <a:lnTo>
                  <a:pt x="15123" y="9720"/>
                </a:lnTo>
                <a:lnTo>
                  <a:pt x="15123" y="11880"/>
                </a:lnTo>
                <a:lnTo>
                  <a:pt x="19443" y="11880"/>
                </a:lnTo>
                <a:lnTo>
                  <a:pt x="19443" y="16199"/>
                </a:lnTo>
                <a:lnTo>
                  <a:pt x="15123" y="16199"/>
                </a:lnTo>
                <a:lnTo>
                  <a:pt x="15123" y="12958"/>
                </a:lnTo>
                <a:lnTo>
                  <a:pt x="10803" y="12958"/>
                </a:lnTo>
                <a:lnTo>
                  <a:pt x="10803" y="8639"/>
                </a:lnTo>
                <a:lnTo>
                  <a:pt x="15123" y="8639"/>
                </a:lnTo>
                <a:close/>
                <a:moveTo>
                  <a:pt x="0" y="4319"/>
                </a:moveTo>
                <a:lnTo>
                  <a:pt x="6477" y="4319"/>
                </a:lnTo>
                <a:lnTo>
                  <a:pt x="6477" y="6479"/>
                </a:lnTo>
                <a:lnTo>
                  <a:pt x="0" y="6479"/>
                </a:lnTo>
                <a:close/>
                <a:moveTo>
                  <a:pt x="10803" y="3238"/>
                </a:moveTo>
                <a:lnTo>
                  <a:pt x="15123" y="3238"/>
                </a:lnTo>
                <a:lnTo>
                  <a:pt x="15123" y="5397"/>
                </a:lnTo>
                <a:lnTo>
                  <a:pt x="10803" y="5397"/>
                </a:lnTo>
                <a:close/>
                <a:moveTo>
                  <a:pt x="2163" y="1078"/>
                </a:moveTo>
                <a:lnTo>
                  <a:pt x="10803" y="1078"/>
                </a:lnTo>
                <a:lnTo>
                  <a:pt x="10803" y="3238"/>
                </a:lnTo>
                <a:lnTo>
                  <a:pt x="2163" y="3238"/>
                </a:lnTo>
                <a:close/>
                <a:moveTo>
                  <a:pt x="0" y="0"/>
                </a:moveTo>
                <a:lnTo>
                  <a:pt x="2157" y="0"/>
                </a:lnTo>
                <a:lnTo>
                  <a:pt x="2157" y="1078"/>
                </a:lnTo>
                <a:lnTo>
                  <a:pt x="0" y="1078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latin typeface="Arial" panose="020B0604020202020204" pitchFamily="34" charset="0"/>
            </a:endParaRPr>
          </a:p>
        </p:txBody>
      </p:sp>
      <p:pic>
        <p:nvPicPr>
          <p:cNvPr id="479" name="Picture 9" descr="Picture 9"/>
          <p:cNvPicPr>
            <a:picLocks noChangeAspect="1"/>
          </p:cNvPicPr>
          <p:nvPr/>
        </p:nvPicPr>
        <p:blipFill>
          <a:blip r:embed="rId2"/>
          <a:srcRect t="70784" r="34816"/>
          <a:stretch>
            <a:fillRect/>
          </a:stretch>
        </p:blipFill>
        <p:spPr>
          <a:xfrm>
            <a:off x="-1" y="4854388"/>
            <a:ext cx="7947213" cy="2003613"/>
          </a:xfrm>
          <a:prstGeom prst="rect">
            <a:avLst/>
          </a:prstGeom>
          <a:ln w="12700">
            <a:miter lim="400000"/>
          </a:ln>
        </p:spPr>
      </p:pic>
      <p:sp>
        <p:nvSpPr>
          <p:cNvPr id="480" name="Obrigado/a."/>
          <p:cNvSpPr txBox="1">
            <a:spLocks noGrp="1"/>
          </p:cNvSpPr>
          <p:nvPr>
            <p:ph type="title" hasCustomPrompt="1"/>
          </p:nvPr>
        </p:nvSpPr>
        <p:spPr>
          <a:xfrm>
            <a:off x="625643" y="3176366"/>
            <a:ext cx="5438982" cy="10056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7200"/>
            </a:lvl1pPr>
          </a:lstStyle>
          <a:p>
            <a:r>
              <a:t>Obrigado/a. </a:t>
            </a:r>
          </a:p>
        </p:txBody>
      </p:sp>
      <p:sp>
        <p:nvSpPr>
          <p:cNvPr id="481" name="Freeform: Shape 73"/>
          <p:cNvSpPr/>
          <p:nvPr/>
        </p:nvSpPr>
        <p:spPr>
          <a:xfrm>
            <a:off x="625641" y="617805"/>
            <a:ext cx="3056023" cy="4098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782" y="20518"/>
                </a:moveTo>
                <a:lnTo>
                  <a:pt x="4072" y="20518"/>
                </a:lnTo>
                <a:lnTo>
                  <a:pt x="4072" y="21600"/>
                </a:lnTo>
                <a:lnTo>
                  <a:pt x="3782" y="21600"/>
                </a:lnTo>
                <a:close/>
                <a:moveTo>
                  <a:pt x="4072" y="18359"/>
                </a:moveTo>
                <a:lnTo>
                  <a:pt x="4651" y="18359"/>
                </a:lnTo>
                <a:lnTo>
                  <a:pt x="4651" y="20518"/>
                </a:lnTo>
                <a:lnTo>
                  <a:pt x="4072" y="20518"/>
                </a:lnTo>
                <a:close/>
                <a:moveTo>
                  <a:pt x="3202" y="18359"/>
                </a:moveTo>
                <a:lnTo>
                  <a:pt x="3782" y="18359"/>
                </a:lnTo>
                <a:lnTo>
                  <a:pt x="3782" y="20518"/>
                </a:lnTo>
                <a:lnTo>
                  <a:pt x="3202" y="20518"/>
                </a:lnTo>
                <a:close/>
                <a:moveTo>
                  <a:pt x="4651" y="16199"/>
                </a:moveTo>
                <a:lnTo>
                  <a:pt x="4940" y="16199"/>
                </a:lnTo>
                <a:lnTo>
                  <a:pt x="4940" y="18359"/>
                </a:lnTo>
                <a:lnTo>
                  <a:pt x="4651" y="18359"/>
                </a:lnTo>
                <a:close/>
                <a:moveTo>
                  <a:pt x="2913" y="16199"/>
                </a:moveTo>
                <a:lnTo>
                  <a:pt x="3202" y="16199"/>
                </a:lnTo>
                <a:lnTo>
                  <a:pt x="3202" y="18359"/>
                </a:lnTo>
                <a:lnTo>
                  <a:pt x="2913" y="18359"/>
                </a:lnTo>
                <a:close/>
                <a:moveTo>
                  <a:pt x="3492" y="15118"/>
                </a:moveTo>
                <a:lnTo>
                  <a:pt x="4361" y="15118"/>
                </a:lnTo>
                <a:lnTo>
                  <a:pt x="4361" y="17277"/>
                </a:lnTo>
                <a:lnTo>
                  <a:pt x="3492" y="17277"/>
                </a:lnTo>
                <a:close/>
                <a:moveTo>
                  <a:pt x="18561" y="14914"/>
                </a:moveTo>
                <a:cubicBezTo>
                  <a:pt x="18454" y="14914"/>
                  <a:pt x="18371" y="15535"/>
                  <a:pt x="18371" y="16399"/>
                </a:cubicBezTo>
                <a:cubicBezTo>
                  <a:pt x="18371" y="17264"/>
                  <a:pt x="18454" y="17881"/>
                  <a:pt x="18561" y="17881"/>
                </a:cubicBezTo>
                <a:cubicBezTo>
                  <a:pt x="18669" y="17881"/>
                  <a:pt x="18751" y="17271"/>
                  <a:pt x="18751" y="16399"/>
                </a:cubicBezTo>
                <a:cubicBezTo>
                  <a:pt x="18751" y="15528"/>
                  <a:pt x="18668" y="14914"/>
                  <a:pt x="18561" y="14914"/>
                </a:cubicBezTo>
                <a:close/>
                <a:moveTo>
                  <a:pt x="17955" y="14914"/>
                </a:moveTo>
                <a:cubicBezTo>
                  <a:pt x="17848" y="14914"/>
                  <a:pt x="17764" y="15535"/>
                  <a:pt x="17764" y="16399"/>
                </a:cubicBezTo>
                <a:cubicBezTo>
                  <a:pt x="17764" y="17264"/>
                  <a:pt x="17848" y="17881"/>
                  <a:pt x="17955" y="17881"/>
                </a:cubicBezTo>
                <a:cubicBezTo>
                  <a:pt x="18062" y="17881"/>
                  <a:pt x="18145" y="17271"/>
                  <a:pt x="18145" y="16399"/>
                </a:cubicBezTo>
                <a:cubicBezTo>
                  <a:pt x="18145" y="15528"/>
                  <a:pt x="18062" y="14914"/>
                  <a:pt x="17955" y="14914"/>
                </a:cubicBezTo>
                <a:close/>
                <a:moveTo>
                  <a:pt x="18932" y="14440"/>
                </a:moveTo>
                <a:lnTo>
                  <a:pt x="19010" y="14440"/>
                </a:lnTo>
                <a:lnTo>
                  <a:pt x="19010" y="17821"/>
                </a:lnTo>
                <a:lnTo>
                  <a:pt x="19251" y="17821"/>
                </a:lnTo>
                <a:lnTo>
                  <a:pt x="19251" y="18359"/>
                </a:lnTo>
                <a:lnTo>
                  <a:pt x="18932" y="18359"/>
                </a:lnTo>
                <a:close/>
                <a:moveTo>
                  <a:pt x="17175" y="14440"/>
                </a:moveTo>
                <a:lnTo>
                  <a:pt x="17253" y="14440"/>
                </a:lnTo>
                <a:lnTo>
                  <a:pt x="17253" y="16089"/>
                </a:lnTo>
                <a:lnTo>
                  <a:pt x="17506" y="16089"/>
                </a:lnTo>
                <a:lnTo>
                  <a:pt x="17506" y="14440"/>
                </a:lnTo>
                <a:lnTo>
                  <a:pt x="17585" y="14440"/>
                </a:lnTo>
                <a:lnTo>
                  <a:pt x="17585" y="18359"/>
                </a:lnTo>
                <a:lnTo>
                  <a:pt x="17506" y="18359"/>
                </a:lnTo>
                <a:lnTo>
                  <a:pt x="17506" y="16640"/>
                </a:lnTo>
                <a:lnTo>
                  <a:pt x="17253" y="16640"/>
                </a:lnTo>
                <a:lnTo>
                  <a:pt x="17253" y="18359"/>
                </a:lnTo>
                <a:lnTo>
                  <a:pt x="17175" y="18359"/>
                </a:lnTo>
                <a:close/>
                <a:moveTo>
                  <a:pt x="18561" y="14367"/>
                </a:moveTo>
                <a:cubicBezTo>
                  <a:pt x="18717" y="14367"/>
                  <a:pt x="18832" y="15261"/>
                  <a:pt x="18832" y="16399"/>
                </a:cubicBezTo>
                <a:cubicBezTo>
                  <a:pt x="18832" y="17538"/>
                  <a:pt x="18717" y="18432"/>
                  <a:pt x="18561" y="18432"/>
                </a:cubicBezTo>
                <a:cubicBezTo>
                  <a:pt x="18404" y="18432"/>
                  <a:pt x="18291" y="17558"/>
                  <a:pt x="18291" y="16399"/>
                </a:cubicBezTo>
                <a:cubicBezTo>
                  <a:pt x="18291" y="15251"/>
                  <a:pt x="18406" y="14367"/>
                  <a:pt x="18561" y="14367"/>
                </a:cubicBezTo>
                <a:close/>
                <a:moveTo>
                  <a:pt x="17955" y="14367"/>
                </a:moveTo>
                <a:cubicBezTo>
                  <a:pt x="18110" y="14367"/>
                  <a:pt x="18225" y="15261"/>
                  <a:pt x="18225" y="16399"/>
                </a:cubicBezTo>
                <a:cubicBezTo>
                  <a:pt x="18225" y="17538"/>
                  <a:pt x="18110" y="18432"/>
                  <a:pt x="17954" y="18432"/>
                </a:cubicBezTo>
                <a:cubicBezTo>
                  <a:pt x="17798" y="18432"/>
                  <a:pt x="17685" y="17558"/>
                  <a:pt x="17685" y="16399"/>
                </a:cubicBezTo>
                <a:cubicBezTo>
                  <a:pt x="17685" y="15251"/>
                  <a:pt x="17800" y="14367"/>
                  <a:pt x="17955" y="14367"/>
                </a:cubicBezTo>
                <a:close/>
                <a:moveTo>
                  <a:pt x="16830" y="14367"/>
                </a:moveTo>
                <a:cubicBezTo>
                  <a:pt x="16946" y="14367"/>
                  <a:pt x="17027" y="14831"/>
                  <a:pt x="17065" y="15458"/>
                </a:cubicBezTo>
                <a:lnTo>
                  <a:pt x="16997" y="15729"/>
                </a:lnTo>
                <a:cubicBezTo>
                  <a:pt x="16973" y="15275"/>
                  <a:pt x="16912" y="14917"/>
                  <a:pt x="16830" y="14917"/>
                </a:cubicBezTo>
                <a:cubicBezTo>
                  <a:pt x="16720" y="14917"/>
                  <a:pt x="16640" y="15538"/>
                  <a:pt x="16640" y="16403"/>
                </a:cubicBezTo>
                <a:cubicBezTo>
                  <a:pt x="16640" y="17267"/>
                  <a:pt x="16721" y="17888"/>
                  <a:pt x="16830" y="17888"/>
                </a:cubicBezTo>
                <a:cubicBezTo>
                  <a:pt x="16911" y="17888"/>
                  <a:pt x="16983" y="17531"/>
                  <a:pt x="17005" y="16920"/>
                </a:cubicBezTo>
                <a:lnTo>
                  <a:pt x="17075" y="17177"/>
                </a:lnTo>
                <a:cubicBezTo>
                  <a:pt x="17042" y="17905"/>
                  <a:pt x="16950" y="18439"/>
                  <a:pt x="16830" y="18439"/>
                </a:cubicBezTo>
                <a:cubicBezTo>
                  <a:pt x="16671" y="18439"/>
                  <a:pt x="16561" y="17564"/>
                  <a:pt x="16561" y="16406"/>
                </a:cubicBezTo>
                <a:lnTo>
                  <a:pt x="16561" y="16399"/>
                </a:lnTo>
                <a:cubicBezTo>
                  <a:pt x="16561" y="15251"/>
                  <a:pt x="16672" y="14367"/>
                  <a:pt x="16830" y="14367"/>
                </a:cubicBezTo>
                <a:close/>
                <a:moveTo>
                  <a:pt x="16291" y="14367"/>
                </a:moveTo>
                <a:cubicBezTo>
                  <a:pt x="16385" y="14367"/>
                  <a:pt x="16454" y="14730"/>
                  <a:pt x="16472" y="15308"/>
                </a:cubicBezTo>
                <a:lnTo>
                  <a:pt x="16402" y="15465"/>
                </a:lnTo>
                <a:cubicBezTo>
                  <a:pt x="16390" y="15134"/>
                  <a:pt x="16349" y="14887"/>
                  <a:pt x="16291" y="14887"/>
                </a:cubicBezTo>
                <a:cubicBezTo>
                  <a:pt x="16224" y="14887"/>
                  <a:pt x="16191" y="15161"/>
                  <a:pt x="16191" y="15441"/>
                </a:cubicBezTo>
                <a:cubicBezTo>
                  <a:pt x="16191" y="15772"/>
                  <a:pt x="16225" y="15919"/>
                  <a:pt x="16266" y="15986"/>
                </a:cubicBezTo>
                <a:lnTo>
                  <a:pt x="16344" y="16132"/>
                </a:lnTo>
                <a:cubicBezTo>
                  <a:pt x="16424" y="16279"/>
                  <a:pt x="16484" y="16630"/>
                  <a:pt x="16484" y="17274"/>
                </a:cubicBezTo>
                <a:cubicBezTo>
                  <a:pt x="16484" y="17918"/>
                  <a:pt x="16414" y="18432"/>
                  <a:pt x="16292" y="18432"/>
                </a:cubicBezTo>
                <a:cubicBezTo>
                  <a:pt x="16189" y="18432"/>
                  <a:pt x="16114" y="18052"/>
                  <a:pt x="16092" y="17384"/>
                </a:cubicBezTo>
                <a:lnTo>
                  <a:pt x="16164" y="17221"/>
                </a:lnTo>
                <a:cubicBezTo>
                  <a:pt x="16177" y="17648"/>
                  <a:pt x="16223" y="17891"/>
                  <a:pt x="16292" y="17891"/>
                </a:cubicBezTo>
                <a:cubicBezTo>
                  <a:pt x="16360" y="17891"/>
                  <a:pt x="16405" y="17618"/>
                  <a:pt x="16405" y="17271"/>
                </a:cubicBezTo>
                <a:cubicBezTo>
                  <a:pt x="16405" y="16924"/>
                  <a:pt x="16373" y="16750"/>
                  <a:pt x="16325" y="16666"/>
                </a:cubicBezTo>
                <a:lnTo>
                  <a:pt x="16247" y="16526"/>
                </a:lnTo>
                <a:cubicBezTo>
                  <a:pt x="16182" y="16413"/>
                  <a:pt x="16114" y="16112"/>
                  <a:pt x="16114" y="15441"/>
                </a:cubicBezTo>
                <a:cubicBezTo>
                  <a:pt x="16114" y="14847"/>
                  <a:pt x="16181" y="14367"/>
                  <a:pt x="16291" y="14367"/>
                </a:cubicBezTo>
                <a:close/>
                <a:moveTo>
                  <a:pt x="4361" y="12958"/>
                </a:moveTo>
                <a:lnTo>
                  <a:pt x="4651" y="12958"/>
                </a:lnTo>
                <a:lnTo>
                  <a:pt x="4651" y="15118"/>
                </a:lnTo>
                <a:lnTo>
                  <a:pt x="4361" y="15118"/>
                </a:lnTo>
                <a:close/>
                <a:moveTo>
                  <a:pt x="3202" y="12958"/>
                </a:moveTo>
                <a:lnTo>
                  <a:pt x="3492" y="12958"/>
                </a:lnTo>
                <a:lnTo>
                  <a:pt x="3492" y="15118"/>
                </a:lnTo>
                <a:lnTo>
                  <a:pt x="3202" y="15118"/>
                </a:lnTo>
                <a:close/>
                <a:moveTo>
                  <a:pt x="5230" y="9720"/>
                </a:moveTo>
                <a:lnTo>
                  <a:pt x="5375" y="9720"/>
                </a:lnTo>
                <a:lnTo>
                  <a:pt x="5375" y="11880"/>
                </a:lnTo>
                <a:lnTo>
                  <a:pt x="5230" y="11880"/>
                </a:lnTo>
                <a:close/>
                <a:moveTo>
                  <a:pt x="2479" y="9720"/>
                </a:moveTo>
                <a:lnTo>
                  <a:pt x="2623" y="9720"/>
                </a:lnTo>
                <a:lnTo>
                  <a:pt x="2623" y="11880"/>
                </a:lnTo>
                <a:lnTo>
                  <a:pt x="2479" y="11880"/>
                </a:lnTo>
                <a:close/>
                <a:moveTo>
                  <a:pt x="18053" y="9333"/>
                </a:moveTo>
                <a:lnTo>
                  <a:pt x="17963" y="11349"/>
                </a:lnTo>
                <a:lnTo>
                  <a:pt x="18159" y="11349"/>
                </a:lnTo>
                <a:lnTo>
                  <a:pt x="18068" y="9333"/>
                </a:lnTo>
                <a:close/>
                <a:moveTo>
                  <a:pt x="16993" y="9333"/>
                </a:moveTo>
                <a:lnTo>
                  <a:pt x="16903" y="11349"/>
                </a:lnTo>
                <a:lnTo>
                  <a:pt x="17099" y="11349"/>
                </a:lnTo>
                <a:lnTo>
                  <a:pt x="17008" y="9333"/>
                </a:lnTo>
                <a:close/>
                <a:moveTo>
                  <a:pt x="21048" y="8839"/>
                </a:moveTo>
                <a:lnTo>
                  <a:pt x="21462" y="8839"/>
                </a:lnTo>
                <a:lnTo>
                  <a:pt x="21462" y="9376"/>
                </a:lnTo>
                <a:lnTo>
                  <a:pt x="21293" y="9376"/>
                </a:lnTo>
                <a:lnTo>
                  <a:pt x="21293" y="12758"/>
                </a:lnTo>
                <a:lnTo>
                  <a:pt x="21215" y="12758"/>
                </a:lnTo>
                <a:lnTo>
                  <a:pt x="21215" y="9376"/>
                </a:lnTo>
                <a:lnTo>
                  <a:pt x="21048" y="9376"/>
                </a:lnTo>
                <a:close/>
                <a:moveTo>
                  <a:pt x="20525" y="8839"/>
                </a:moveTo>
                <a:lnTo>
                  <a:pt x="20669" y="8839"/>
                </a:lnTo>
                <a:lnTo>
                  <a:pt x="20863" y="12267"/>
                </a:lnTo>
                <a:lnTo>
                  <a:pt x="20878" y="12267"/>
                </a:lnTo>
                <a:lnTo>
                  <a:pt x="20878" y="8839"/>
                </a:lnTo>
                <a:lnTo>
                  <a:pt x="20953" y="8839"/>
                </a:lnTo>
                <a:lnTo>
                  <a:pt x="20953" y="12758"/>
                </a:lnTo>
                <a:lnTo>
                  <a:pt x="20807" y="12758"/>
                </a:lnTo>
                <a:lnTo>
                  <a:pt x="20615" y="9333"/>
                </a:lnTo>
                <a:lnTo>
                  <a:pt x="20601" y="9333"/>
                </a:lnTo>
                <a:lnTo>
                  <a:pt x="20601" y="12758"/>
                </a:lnTo>
                <a:lnTo>
                  <a:pt x="20525" y="12758"/>
                </a:lnTo>
                <a:close/>
                <a:moveTo>
                  <a:pt x="20096" y="8839"/>
                </a:moveTo>
                <a:lnTo>
                  <a:pt x="20412" y="8839"/>
                </a:lnTo>
                <a:lnTo>
                  <a:pt x="20412" y="9370"/>
                </a:lnTo>
                <a:lnTo>
                  <a:pt x="20174" y="9370"/>
                </a:lnTo>
                <a:lnTo>
                  <a:pt x="20174" y="10501"/>
                </a:lnTo>
                <a:lnTo>
                  <a:pt x="20387" y="10501"/>
                </a:lnTo>
                <a:lnTo>
                  <a:pt x="20387" y="11022"/>
                </a:lnTo>
                <a:lnTo>
                  <a:pt x="20174" y="11022"/>
                </a:lnTo>
                <a:lnTo>
                  <a:pt x="20174" y="12234"/>
                </a:lnTo>
                <a:lnTo>
                  <a:pt x="20421" y="12234"/>
                </a:lnTo>
                <a:lnTo>
                  <a:pt x="20421" y="12758"/>
                </a:lnTo>
                <a:lnTo>
                  <a:pt x="20096" y="12758"/>
                </a:lnTo>
                <a:close/>
                <a:moveTo>
                  <a:pt x="19395" y="8839"/>
                </a:moveTo>
                <a:lnTo>
                  <a:pt x="19546" y="8839"/>
                </a:lnTo>
                <a:lnTo>
                  <a:pt x="19671" y="12267"/>
                </a:lnTo>
                <a:lnTo>
                  <a:pt x="19685" y="12267"/>
                </a:lnTo>
                <a:lnTo>
                  <a:pt x="19813" y="8839"/>
                </a:lnTo>
                <a:lnTo>
                  <a:pt x="19963" y="8839"/>
                </a:lnTo>
                <a:lnTo>
                  <a:pt x="19963" y="12758"/>
                </a:lnTo>
                <a:lnTo>
                  <a:pt x="19888" y="12758"/>
                </a:lnTo>
                <a:lnTo>
                  <a:pt x="19888" y="9333"/>
                </a:lnTo>
                <a:lnTo>
                  <a:pt x="19873" y="9333"/>
                </a:lnTo>
                <a:lnTo>
                  <a:pt x="19747" y="12758"/>
                </a:lnTo>
                <a:lnTo>
                  <a:pt x="19610" y="12758"/>
                </a:lnTo>
                <a:lnTo>
                  <a:pt x="19485" y="9333"/>
                </a:lnTo>
                <a:lnTo>
                  <a:pt x="19471" y="9333"/>
                </a:lnTo>
                <a:lnTo>
                  <a:pt x="19471" y="12758"/>
                </a:lnTo>
                <a:lnTo>
                  <a:pt x="19395" y="12758"/>
                </a:lnTo>
                <a:close/>
                <a:moveTo>
                  <a:pt x="18967" y="8839"/>
                </a:moveTo>
                <a:lnTo>
                  <a:pt x="19283" y="8839"/>
                </a:lnTo>
                <a:lnTo>
                  <a:pt x="19283" y="9370"/>
                </a:lnTo>
                <a:lnTo>
                  <a:pt x="19044" y="9370"/>
                </a:lnTo>
                <a:lnTo>
                  <a:pt x="19044" y="10501"/>
                </a:lnTo>
                <a:lnTo>
                  <a:pt x="19257" y="10501"/>
                </a:lnTo>
                <a:lnTo>
                  <a:pt x="19257" y="11022"/>
                </a:lnTo>
                <a:lnTo>
                  <a:pt x="19044" y="11022"/>
                </a:lnTo>
                <a:lnTo>
                  <a:pt x="19044" y="12234"/>
                </a:lnTo>
                <a:lnTo>
                  <a:pt x="19291" y="12234"/>
                </a:lnTo>
                <a:lnTo>
                  <a:pt x="19291" y="12758"/>
                </a:lnTo>
                <a:lnTo>
                  <a:pt x="18967" y="12758"/>
                </a:lnTo>
                <a:close/>
                <a:moveTo>
                  <a:pt x="17996" y="8839"/>
                </a:moveTo>
                <a:lnTo>
                  <a:pt x="18127" y="8839"/>
                </a:lnTo>
                <a:lnTo>
                  <a:pt x="18301" y="12688"/>
                </a:lnTo>
                <a:lnTo>
                  <a:pt x="18301" y="12761"/>
                </a:lnTo>
                <a:lnTo>
                  <a:pt x="18223" y="12761"/>
                </a:lnTo>
                <a:lnTo>
                  <a:pt x="18184" y="11893"/>
                </a:lnTo>
                <a:lnTo>
                  <a:pt x="17939" y="11893"/>
                </a:lnTo>
                <a:lnTo>
                  <a:pt x="17900" y="12761"/>
                </a:lnTo>
                <a:lnTo>
                  <a:pt x="17822" y="12761"/>
                </a:lnTo>
                <a:lnTo>
                  <a:pt x="17822" y="12688"/>
                </a:lnTo>
                <a:lnTo>
                  <a:pt x="17822" y="12688"/>
                </a:lnTo>
                <a:close/>
                <a:moveTo>
                  <a:pt x="17317" y="8839"/>
                </a:moveTo>
                <a:lnTo>
                  <a:pt x="17461" y="8839"/>
                </a:lnTo>
                <a:lnTo>
                  <a:pt x="17655" y="12267"/>
                </a:lnTo>
                <a:lnTo>
                  <a:pt x="17669" y="12267"/>
                </a:lnTo>
                <a:lnTo>
                  <a:pt x="17669" y="8839"/>
                </a:lnTo>
                <a:lnTo>
                  <a:pt x="17745" y="8839"/>
                </a:lnTo>
                <a:lnTo>
                  <a:pt x="17745" y="12758"/>
                </a:lnTo>
                <a:lnTo>
                  <a:pt x="17598" y="12758"/>
                </a:lnTo>
                <a:lnTo>
                  <a:pt x="17407" y="9333"/>
                </a:lnTo>
                <a:lnTo>
                  <a:pt x="17392" y="9333"/>
                </a:lnTo>
                <a:lnTo>
                  <a:pt x="17392" y="12758"/>
                </a:lnTo>
                <a:lnTo>
                  <a:pt x="17317" y="12758"/>
                </a:lnTo>
                <a:close/>
                <a:moveTo>
                  <a:pt x="16936" y="8839"/>
                </a:moveTo>
                <a:lnTo>
                  <a:pt x="17066" y="8839"/>
                </a:lnTo>
                <a:lnTo>
                  <a:pt x="17240" y="12688"/>
                </a:lnTo>
                <a:lnTo>
                  <a:pt x="17240" y="12761"/>
                </a:lnTo>
                <a:lnTo>
                  <a:pt x="17162" y="12761"/>
                </a:lnTo>
                <a:lnTo>
                  <a:pt x="17123" y="11893"/>
                </a:lnTo>
                <a:lnTo>
                  <a:pt x="16878" y="11893"/>
                </a:lnTo>
                <a:lnTo>
                  <a:pt x="16839" y="12761"/>
                </a:lnTo>
                <a:lnTo>
                  <a:pt x="16762" y="12761"/>
                </a:lnTo>
                <a:lnTo>
                  <a:pt x="16762" y="12688"/>
                </a:lnTo>
                <a:lnTo>
                  <a:pt x="16762" y="12688"/>
                </a:lnTo>
                <a:close/>
                <a:moveTo>
                  <a:pt x="16117" y="8839"/>
                </a:moveTo>
                <a:lnTo>
                  <a:pt x="16268" y="8839"/>
                </a:lnTo>
                <a:lnTo>
                  <a:pt x="16392" y="12267"/>
                </a:lnTo>
                <a:lnTo>
                  <a:pt x="16407" y="12267"/>
                </a:lnTo>
                <a:lnTo>
                  <a:pt x="16534" y="8839"/>
                </a:lnTo>
                <a:lnTo>
                  <a:pt x="16685" y="8839"/>
                </a:lnTo>
                <a:lnTo>
                  <a:pt x="16685" y="12758"/>
                </a:lnTo>
                <a:lnTo>
                  <a:pt x="16609" y="12758"/>
                </a:lnTo>
                <a:lnTo>
                  <a:pt x="16609" y="9333"/>
                </a:lnTo>
                <a:lnTo>
                  <a:pt x="16594" y="9333"/>
                </a:lnTo>
                <a:lnTo>
                  <a:pt x="16469" y="12758"/>
                </a:lnTo>
                <a:lnTo>
                  <a:pt x="16331" y="12758"/>
                </a:lnTo>
                <a:lnTo>
                  <a:pt x="16207" y="9333"/>
                </a:lnTo>
                <a:lnTo>
                  <a:pt x="16193" y="9333"/>
                </a:lnTo>
                <a:lnTo>
                  <a:pt x="16193" y="12758"/>
                </a:lnTo>
                <a:lnTo>
                  <a:pt x="16117" y="12758"/>
                </a:lnTo>
                <a:close/>
                <a:moveTo>
                  <a:pt x="18597" y="8765"/>
                </a:moveTo>
                <a:cubicBezTo>
                  <a:pt x="18711" y="8765"/>
                  <a:pt x="18792" y="9203"/>
                  <a:pt x="18829" y="9774"/>
                </a:cubicBezTo>
                <a:lnTo>
                  <a:pt x="18762" y="10054"/>
                </a:lnTo>
                <a:cubicBezTo>
                  <a:pt x="18738" y="9660"/>
                  <a:pt x="18681" y="9313"/>
                  <a:pt x="18597" y="9313"/>
                </a:cubicBezTo>
                <a:cubicBezTo>
                  <a:pt x="18489" y="9313"/>
                  <a:pt x="18408" y="9934"/>
                  <a:pt x="18408" y="10798"/>
                </a:cubicBezTo>
                <a:cubicBezTo>
                  <a:pt x="18408" y="11663"/>
                  <a:pt x="18486" y="12287"/>
                  <a:pt x="18596" y="12287"/>
                </a:cubicBezTo>
                <a:cubicBezTo>
                  <a:pt x="18691" y="12287"/>
                  <a:pt x="18767" y="11773"/>
                  <a:pt x="18774" y="11145"/>
                </a:cubicBezTo>
                <a:lnTo>
                  <a:pt x="18774" y="11139"/>
                </a:lnTo>
                <a:lnTo>
                  <a:pt x="18601" y="11139"/>
                </a:lnTo>
                <a:lnTo>
                  <a:pt x="18601" y="10618"/>
                </a:lnTo>
                <a:lnTo>
                  <a:pt x="18852" y="10618"/>
                </a:lnTo>
                <a:lnTo>
                  <a:pt x="18852" y="12758"/>
                </a:lnTo>
                <a:lnTo>
                  <a:pt x="18774" y="12758"/>
                </a:lnTo>
                <a:lnTo>
                  <a:pt x="18774" y="12013"/>
                </a:lnTo>
                <a:lnTo>
                  <a:pt x="18758" y="12013"/>
                </a:lnTo>
                <a:cubicBezTo>
                  <a:pt x="18735" y="12551"/>
                  <a:pt x="18669" y="12831"/>
                  <a:pt x="18581" y="12831"/>
                </a:cubicBezTo>
                <a:cubicBezTo>
                  <a:pt x="18436" y="12831"/>
                  <a:pt x="18328" y="11957"/>
                  <a:pt x="18328" y="10798"/>
                </a:cubicBezTo>
                <a:cubicBezTo>
                  <a:pt x="18328" y="9650"/>
                  <a:pt x="18443" y="8765"/>
                  <a:pt x="18597" y="8765"/>
                </a:cubicBezTo>
                <a:close/>
                <a:moveTo>
                  <a:pt x="4361" y="6479"/>
                </a:moveTo>
                <a:lnTo>
                  <a:pt x="4651" y="6479"/>
                </a:lnTo>
                <a:lnTo>
                  <a:pt x="4651" y="8639"/>
                </a:lnTo>
                <a:lnTo>
                  <a:pt x="4361" y="8639"/>
                </a:lnTo>
                <a:close/>
                <a:moveTo>
                  <a:pt x="3202" y="6479"/>
                </a:moveTo>
                <a:lnTo>
                  <a:pt x="3492" y="6479"/>
                </a:lnTo>
                <a:lnTo>
                  <a:pt x="3492" y="8639"/>
                </a:lnTo>
                <a:lnTo>
                  <a:pt x="3202" y="8639"/>
                </a:lnTo>
                <a:close/>
                <a:moveTo>
                  <a:pt x="4940" y="5401"/>
                </a:moveTo>
                <a:lnTo>
                  <a:pt x="5230" y="5401"/>
                </a:lnTo>
                <a:lnTo>
                  <a:pt x="5230" y="9720"/>
                </a:lnTo>
                <a:lnTo>
                  <a:pt x="4940" y="9720"/>
                </a:lnTo>
                <a:lnTo>
                  <a:pt x="4940" y="11880"/>
                </a:lnTo>
                <a:lnTo>
                  <a:pt x="5230" y="11880"/>
                </a:lnTo>
                <a:lnTo>
                  <a:pt x="5230" y="16199"/>
                </a:lnTo>
                <a:lnTo>
                  <a:pt x="4940" y="16199"/>
                </a:lnTo>
                <a:lnTo>
                  <a:pt x="4940" y="12958"/>
                </a:lnTo>
                <a:lnTo>
                  <a:pt x="4651" y="12958"/>
                </a:lnTo>
                <a:lnTo>
                  <a:pt x="4651" y="8639"/>
                </a:lnTo>
                <a:lnTo>
                  <a:pt x="4940" y="8639"/>
                </a:lnTo>
                <a:close/>
                <a:moveTo>
                  <a:pt x="2623" y="5401"/>
                </a:moveTo>
                <a:lnTo>
                  <a:pt x="2913" y="5401"/>
                </a:lnTo>
                <a:lnTo>
                  <a:pt x="2913" y="8639"/>
                </a:lnTo>
                <a:lnTo>
                  <a:pt x="3202" y="8639"/>
                </a:lnTo>
                <a:lnTo>
                  <a:pt x="3202" y="12958"/>
                </a:lnTo>
                <a:lnTo>
                  <a:pt x="2913" y="12958"/>
                </a:lnTo>
                <a:lnTo>
                  <a:pt x="2913" y="16199"/>
                </a:lnTo>
                <a:lnTo>
                  <a:pt x="2623" y="16199"/>
                </a:lnTo>
                <a:lnTo>
                  <a:pt x="2623" y="11880"/>
                </a:lnTo>
                <a:lnTo>
                  <a:pt x="2913" y="11880"/>
                </a:lnTo>
                <a:lnTo>
                  <a:pt x="2913" y="9720"/>
                </a:lnTo>
                <a:lnTo>
                  <a:pt x="2623" y="9720"/>
                </a:lnTo>
                <a:close/>
                <a:moveTo>
                  <a:pt x="3492" y="4319"/>
                </a:moveTo>
                <a:lnTo>
                  <a:pt x="4361" y="4319"/>
                </a:lnTo>
                <a:lnTo>
                  <a:pt x="4361" y="6479"/>
                </a:lnTo>
                <a:lnTo>
                  <a:pt x="3492" y="6479"/>
                </a:lnTo>
                <a:close/>
                <a:moveTo>
                  <a:pt x="18156" y="3772"/>
                </a:moveTo>
                <a:lnTo>
                  <a:pt x="18156" y="5137"/>
                </a:lnTo>
                <a:lnTo>
                  <a:pt x="18276" y="5137"/>
                </a:lnTo>
                <a:cubicBezTo>
                  <a:pt x="18331" y="5137"/>
                  <a:pt x="18373" y="4850"/>
                  <a:pt x="18373" y="4443"/>
                </a:cubicBezTo>
                <a:cubicBezTo>
                  <a:pt x="18373" y="4069"/>
                  <a:pt x="18337" y="3772"/>
                  <a:pt x="18274" y="3772"/>
                </a:cubicBezTo>
                <a:close/>
                <a:moveTo>
                  <a:pt x="19446" y="3732"/>
                </a:moveTo>
                <a:lnTo>
                  <a:pt x="19356" y="5748"/>
                </a:lnTo>
                <a:lnTo>
                  <a:pt x="19553" y="5748"/>
                </a:lnTo>
                <a:lnTo>
                  <a:pt x="19462" y="3732"/>
                </a:lnTo>
                <a:close/>
                <a:moveTo>
                  <a:pt x="20801" y="3715"/>
                </a:moveTo>
                <a:cubicBezTo>
                  <a:pt x="20694" y="3715"/>
                  <a:pt x="20611" y="4336"/>
                  <a:pt x="20611" y="5201"/>
                </a:cubicBezTo>
                <a:cubicBezTo>
                  <a:pt x="20611" y="6065"/>
                  <a:pt x="20694" y="6683"/>
                  <a:pt x="20801" y="6683"/>
                </a:cubicBezTo>
                <a:cubicBezTo>
                  <a:pt x="20909" y="6683"/>
                  <a:pt x="20991" y="6072"/>
                  <a:pt x="20991" y="5201"/>
                </a:cubicBezTo>
                <a:cubicBezTo>
                  <a:pt x="20991" y="4329"/>
                  <a:pt x="20908" y="3715"/>
                  <a:pt x="20801" y="3715"/>
                </a:cubicBezTo>
                <a:close/>
                <a:moveTo>
                  <a:pt x="17709" y="3715"/>
                </a:moveTo>
                <a:cubicBezTo>
                  <a:pt x="17601" y="3715"/>
                  <a:pt x="17518" y="4336"/>
                  <a:pt x="17518" y="5201"/>
                </a:cubicBezTo>
                <a:cubicBezTo>
                  <a:pt x="17518" y="6065"/>
                  <a:pt x="17601" y="6683"/>
                  <a:pt x="17709" y="6683"/>
                </a:cubicBezTo>
                <a:cubicBezTo>
                  <a:pt x="17816" y="6683"/>
                  <a:pt x="17899" y="6072"/>
                  <a:pt x="17899" y="5201"/>
                </a:cubicBezTo>
                <a:cubicBezTo>
                  <a:pt x="17899" y="4329"/>
                  <a:pt x="17816" y="3715"/>
                  <a:pt x="17709" y="3715"/>
                </a:cubicBezTo>
                <a:close/>
                <a:moveTo>
                  <a:pt x="20181" y="3241"/>
                </a:moveTo>
                <a:lnTo>
                  <a:pt x="20459" y="3241"/>
                </a:lnTo>
                <a:lnTo>
                  <a:pt x="20459" y="3772"/>
                </a:lnTo>
                <a:lnTo>
                  <a:pt x="20359" y="3772"/>
                </a:lnTo>
                <a:lnTo>
                  <a:pt x="20359" y="6626"/>
                </a:lnTo>
                <a:lnTo>
                  <a:pt x="20459" y="6626"/>
                </a:lnTo>
                <a:lnTo>
                  <a:pt x="20459" y="7160"/>
                </a:lnTo>
                <a:lnTo>
                  <a:pt x="20181" y="7160"/>
                </a:lnTo>
                <a:lnTo>
                  <a:pt x="20181" y="6626"/>
                </a:lnTo>
                <a:lnTo>
                  <a:pt x="20281" y="6626"/>
                </a:lnTo>
                <a:lnTo>
                  <a:pt x="20281" y="3772"/>
                </a:lnTo>
                <a:lnTo>
                  <a:pt x="20181" y="3772"/>
                </a:lnTo>
                <a:close/>
                <a:moveTo>
                  <a:pt x="18570" y="3241"/>
                </a:moveTo>
                <a:lnTo>
                  <a:pt x="18722" y="3241"/>
                </a:lnTo>
                <a:lnTo>
                  <a:pt x="18846" y="6666"/>
                </a:lnTo>
                <a:lnTo>
                  <a:pt x="18860" y="6666"/>
                </a:lnTo>
                <a:lnTo>
                  <a:pt x="18988" y="3241"/>
                </a:lnTo>
                <a:lnTo>
                  <a:pt x="19138" y="3241"/>
                </a:lnTo>
                <a:lnTo>
                  <a:pt x="19138" y="7160"/>
                </a:lnTo>
                <a:lnTo>
                  <a:pt x="19063" y="7160"/>
                </a:lnTo>
                <a:lnTo>
                  <a:pt x="19063" y="3732"/>
                </a:lnTo>
                <a:lnTo>
                  <a:pt x="19048" y="3732"/>
                </a:lnTo>
                <a:lnTo>
                  <a:pt x="18923" y="7160"/>
                </a:lnTo>
                <a:lnTo>
                  <a:pt x="18785" y="7160"/>
                </a:lnTo>
                <a:lnTo>
                  <a:pt x="18661" y="3732"/>
                </a:lnTo>
                <a:lnTo>
                  <a:pt x="18647" y="3732"/>
                </a:lnTo>
                <a:lnTo>
                  <a:pt x="18647" y="7160"/>
                </a:lnTo>
                <a:lnTo>
                  <a:pt x="18570" y="7160"/>
                </a:lnTo>
                <a:close/>
                <a:moveTo>
                  <a:pt x="18079" y="3241"/>
                </a:moveTo>
                <a:lnTo>
                  <a:pt x="18280" y="3241"/>
                </a:lnTo>
                <a:cubicBezTo>
                  <a:pt x="18391" y="3241"/>
                  <a:pt x="18452" y="3718"/>
                  <a:pt x="18452" y="4333"/>
                </a:cubicBezTo>
                <a:cubicBezTo>
                  <a:pt x="18452" y="4763"/>
                  <a:pt x="18420" y="5110"/>
                  <a:pt x="18365" y="5177"/>
                </a:cubicBezTo>
                <a:lnTo>
                  <a:pt x="18365" y="5291"/>
                </a:lnTo>
                <a:cubicBezTo>
                  <a:pt x="18400" y="5364"/>
                  <a:pt x="18447" y="5628"/>
                  <a:pt x="18447" y="6199"/>
                </a:cubicBezTo>
                <a:lnTo>
                  <a:pt x="18447" y="7163"/>
                </a:lnTo>
                <a:lnTo>
                  <a:pt x="18369" y="7163"/>
                </a:lnTo>
                <a:lnTo>
                  <a:pt x="18369" y="6245"/>
                </a:lnTo>
                <a:cubicBezTo>
                  <a:pt x="18369" y="5891"/>
                  <a:pt x="18339" y="5675"/>
                  <a:pt x="18284" y="5675"/>
                </a:cubicBezTo>
                <a:lnTo>
                  <a:pt x="18156" y="5675"/>
                </a:lnTo>
                <a:lnTo>
                  <a:pt x="18156" y="7163"/>
                </a:lnTo>
                <a:lnTo>
                  <a:pt x="18078" y="7163"/>
                </a:lnTo>
                <a:lnTo>
                  <a:pt x="18078" y="3244"/>
                </a:lnTo>
                <a:close/>
                <a:moveTo>
                  <a:pt x="16100" y="3241"/>
                </a:moveTo>
                <a:lnTo>
                  <a:pt x="16379" y="3241"/>
                </a:lnTo>
                <a:lnTo>
                  <a:pt x="16379" y="3772"/>
                </a:lnTo>
                <a:lnTo>
                  <a:pt x="16278" y="3772"/>
                </a:lnTo>
                <a:lnTo>
                  <a:pt x="16278" y="6626"/>
                </a:lnTo>
                <a:lnTo>
                  <a:pt x="16379" y="6626"/>
                </a:lnTo>
                <a:lnTo>
                  <a:pt x="16379" y="7160"/>
                </a:lnTo>
                <a:lnTo>
                  <a:pt x="16100" y="7160"/>
                </a:lnTo>
                <a:lnTo>
                  <a:pt x="16100" y="6626"/>
                </a:lnTo>
                <a:lnTo>
                  <a:pt x="16201" y="6626"/>
                </a:lnTo>
                <a:lnTo>
                  <a:pt x="16201" y="3772"/>
                </a:lnTo>
                <a:lnTo>
                  <a:pt x="16100" y="3772"/>
                </a:lnTo>
                <a:close/>
                <a:moveTo>
                  <a:pt x="21172" y="3238"/>
                </a:moveTo>
                <a:lnTo>
                  <a:pt x="21316" y="3238"/>
                </a:lnTo>
                <a:lnTo>
                  <a:pt x="21510" y="6666"/>
                </a:lnTo>
                <a:lnTo>
                  <a:pt x="21524" y="6666"/>
                </a:lnTo>
                <a:lnTo>
                  <a:pt x="21524" y="3238"/>
                </a:lnTo>
                <a:lnTo>
                  <a:pt x="21600" y="3238"/>
                </a:lnTo>
                <a:lnTo>
                  <a:pt x="21600" y="7160"/>
                </a:lnTo>
                <a:lnTo>
                  <a:pt x="21454" y="7160"/>
                </a:lnTo>
                <a:lnTo>
                  <a:pt x="21262" y="3732"/>
                </a:lnTo>
                <a:lnTo>
                  <a:pt x="21248" y="3732"/>
                </a:lnTo>
                <a:lnTo>
                  <a:pt x="21248" y="7160"/>
                </a:lnTo>
                <a:lnTo>
                  <a:pt x="21172" y="7160"/>
                </a:lnTo>
                <a:close/>
                <a:moveTo>
                  <a:pt x="19689" y="3238"/>
                </a:moveTo>
                <a:lnTo>
                  <a:pt x="20103" y="3238"/>
                </a:lnTo>
                <a:lnTo>
                  <a:pt x="20103" y="3779"/>
                </a:lnTo>
                <a:lnTo>
                  <a:pt x="19934" y="3779"/>
                </a:lnTo>
                <a:lnTo>
                  <a:pt x="19934" y="7160"/>
                </a:lnTo>
                <a:lnTo>
                  <a:pt x="19856" y="7160"/>
                </a:lnTo>
                <a:lnTo>
                  <a:pt x="19856" y="3779"/>
                </a:lnTo>
                <a:lnTo>
                  <a:pt x="19689" y="3779"/>
                </a:lnTo>
                <a:close/>
                <a:moveTo>
                  <a:pt x="19390" y="3238"/>
                </a:moveTo>
                <a:lnTo>
                  <a:pt x="19520" y="3238"/>
                </a:lnTo>
                <a:lnTo>
                  <a:pt x="19694" y="7086"/>
                </a:lnTo>
                <a:lnTo>
                  <a:pt x="19694" y="7160"/>
                </a:lnTo>
                <a:lnTo>
                  <a:pt x="19616" y="7160"/>
                </a:lnTo>
                <a:lnTo>
                  <a:pt x="19577" y="6292"/>
                </a:lnTo>
                <a:lnTo>
                  <a:pt x="19332" y="6292"/>
                </a:lnTo>
                <a:lnTo>
                  <a:pt x="19293" y="7160"/>
                </a:lnTo>
                <a:lnTo>
                  <a:pt x="19216" y="7160"/>
                </a:lnTo>
                <a:lnTo>
                  <a:pt x="19216" y="7086"/>
                </a:lnTo>
                <a:lnTo>
                  <a:pt x="19215" y="7086"/>
                </a:lnTo>
                <a:close/>
                <a:moveTo>
                  <a:pt x="17057" y="3238"/>
                </a:moveTo>
                <a:lnTo>
                  <a:pt x="17374" y="3238"/>
                </a:lnTo>
                <a:lnTo>
                  <a:pt x="17374" y="3772"/>
                </a:lnTo>
                <a:lnTo>
                  <a:pt x="17135" y="3772"/>
                </a:lnTo>
                <a:lnTo>
                  <a:pt x="17135" y="4977"/>
                </a:lnTo>
                <a:lnTo>
                  <a:pt x="17348" y="4977"/>
                </a:lnTo>
                <a:lnTo>
                  <a:pt x="17348" y="5498"/>
                </a:lnTo>
                <a:lnTo>
                  <a:pt x="17135" y="5498"/>
                </a:lnTo>
                <a:lnTo>
                  <a:pt x="17135" y="7160"/>
                </a:lnTo>
                <a:lnTo>
                  <a:pt x="17057" y="7160"/>
                </a:lnTo>
                <a:close/>
                <a:moveTo>
                  <a:pt x="16496" y="3238"/>
                </a:moveTo>
                <a:lnTo>
                  <a:pt x="16640" y="3238"/>
                </a:lnTo>
                <a:lnTo>
                  <a:pt x="16834" y="6666"/>
                </a:lnTo>
                <a:lnTo>
                  <a:pt x="16848" y="6666"/>
                </a:lnTo>
                <a:lnTo>
                  <a:pt x="16848" y="3238"/>
                </a:lnTo>
                <a:lnTo>
                  <a:pt x="16924" y="3238"/>
                </a:lnTo>
                <a:lnTo>
                  <a:pt x="16924" y="7160"/>
                </a:lnTo>
                <a:lnTo>
                  <a:pt x="16778" y="7160"/>
                </a:lnTo>
                <a:lnTo>
                  <a:pt x="16586" y="3732"/>
                </a:lnTo>
                <a:lnTo>
                  <a:pt x="16572" y="3732"/>
                </a:lnTo>
                <a:lnTo>
                  <a:pt x="16572" y="7160"/>
                </a:lnTo>
                <a:lnTo>
                  <a:pt x="16496" y="7160"/>
                </a:lnTo>
                <a:close/>
                <a:moveTo>
                  <a:pt x="11451" y="3238"/>
                </a:moveTo>
                <a:lnTo>
                  <a:pt x="11909" y="3238"/>
                </a:lnTo>
                <a:lnTo>
                  <a:pt x="12497" y="16933"/>
                </a:lnTo>
                <a:lnTo>
                  <a:pt x="12555" y="16933"/>
                </a:lnTo>
                <a:lnTo>
                  <a:pt x="13157" y="3238"/>
                </a:lnTo>
                <a:lnTo>
                  <a:pt x="13612" y="3238"/>
                </a:lnTo>
                <a:lnTo>
                  <a:pt x="13612" y="18359"/>
                </a:lnTo>
                <a:lnTo>
                  <a:pt x="13383" y="18359"/>
                </a:lnTo>
                <a:lnTo>
                  <a:pt x="13383" y="4666"/>
                </a:lnTo>
                <a:lnTo>
                  <a:pt x="13325" y="4666"/>
                </a:lnTo>
                <a:lnTo>
                  <a:pt x="12734" y="18359"/>
                </a:lnTo>
                <a:lnTo>
                  <a:pt x="12326" y="18359"/>
                </a:lnTo>
                <a:lnTo>
                  <a:pt x="11735" y="4666"/>
                </a:lnTo>
                <a:lnTo>
                  <a:pt x="11680" y="4666"/>
                </a:lnTo>
                <a:lnTo>
                  <a:pt x="11680" y="18359"/>
                </a:lnTo>
                <a:lnTo>
                  <a:pt x="11451" y="18359"/>
                </a:lnTo>
                <a:close/>
                <a:moveTo>
                  <a:pt x="10154" y="3238"/>
                </a:moveTo>
                <a:lnTo>
                  <a:pt x="11162" y="3238"/>
                </a:lnTo>
                <a:lnTo>
                  <a:pt x="11162" y="4817"/>
                </a:lnTo>
                <a:lnTo>
                  <a:pt x="10774" y="4817"/>
                </a:lnTo>
                <a:lnTo>
                  <a:pt x="10774" y="16783"/>
                </a:lnTo>
                <a:lnTo>
                  <a:pt x="11162" y="16783"/>
                </a:lnTo>
                <a:lnTo>
                  <a:pt x="11162" y="18359"/>
                </a:lnTo>
                <a:lnTo>
                  <a:pt x="10154" y="18359"/>
                </a:lnTo>
                <a:lnTo>
                  <a:pt x="10154" y="16783"/>
                </a:lnTo>
                <a:lnTo>
                  <a:pt x="10542" y="16783"/>
                </a:lnTo>
                <a:lnTo>
                  <a:pt x="10542" y="4817"/>
                </a:lnTo>
                <a:lnTo>
                  <a:pt x="10154" y="4817"/>
                </a:lnTo>
                <a:close/>
                <a:moveTo>
                  <a:pt x="8454" y="3238"/>
                </a:moveTo>
                <a:lnTo>
                  <a:pt x="8900" y="3238"/>
                </a:lnTo>
                <a:lnTo>
                  <a:pt x="9765" y="18359"/>
                </a:lnTo>
                <a:lnTo>
                  <a:pt x="9186" y="18359"/>
                </a:lnTo>
                <a:lnTo>
                  <a:pt x="8677" y="9440"/>
                </a:lnTo>
                <a:lnTo>
                  <a:pt x="8167" y="18359"/>
                </a:lnTo>
                <a:lnTo>
                  <a:pt x="7589" y="18359"/>
                </a:lnTo>
                <a:close/>
                <a:moveTo>
                  <a:pt x="5592" y="3238"/>
                </a:moveTo>
                <a:lnTo>
                  <a:pt x="6171" y="3238"/>
                </a:lnTo>
                <a:lnTo>
                  <a:pt x="6680" y="12160"/>
                </a:lnTo>
                <a:lnTo>
                  <a:pt x="7193" y="3238"/>
                </a:lnTo>
                <a:lnTo>
                  <a:pt x="7771" y="3238"/>
                </a:lnTo>
                <a:lnTo>
                  <a:pt x="6903" y="18359"/>
                </a:lnTo>
                <a:lnTo>
                  <a:pt x="6456" y="18359"/>
                </a:lnTo>
                <a:close/>
                <a:moveTo>
                  <a:pt x="4651" y="3238"/>
                </a:moveTo>
                <a:lnTo>
                  <a:pt x="4940" y="3238"/>
                </a:lnTo>
                <a:lnTo>
                  <a:pt x="4940" y="5397"/>
                </a:lnTo>
                <a:lnTo>
                  <a:pt x="4651" y="5397"/>
                </a:lnTo>
                <a:close/>
                <a:moveTo>
                  <a:pt x="2913" y="3238"/>
                </a:moveTo>
                <a:lnTo>
                  <a:pt x="3202" y="3238"/>
                </a:lnTo>
                <a:lnTo>
                  <a:pt x="3202" y="5397"/>
                </a:lnTo>
                <a:lnTo>
                  <a:pt x="2913" y="5397"/>
                </a:lnTo>
                <a:close/>
                <a:moveTo>
                  <a:pt x="0" y="3238"/>
                </a:moveTo>
                <a:lnTo>
                  <a:pt x="532" y="3238"/>
                </a:lnTo>
                <a:lnTo>
                  <a:pt x="1512" y="12110"/>
                </a:lnTo>
                <a:lnTo>
                  <a:pt x="1512" y="3238"/>
                </a:lnTo>
                <a:lnTo>
                  <a:pt x="2044" y="3238"/>
                </a:lnTo>
                <a:lnTo>
                  <a:pt x="2044" y="18359"/>
                </a:lnTo>
                <a:lnTo>
                  <a:pt x="1512" y="18359"/>
                </a:lnTo>
                <a:lnTo>
                  <a:pt x="532" y="9486"/>
                </a:lnTo>
                <a:lnTo>
                  <a:pt x="532" y="18359"/>
                </a:lnTo>
                <a:lnTo>
                  <a:pt x="0" y="18359"/>
                </a:lnTo>
                <a:close/>
                <a:moveTo>
                  <a:pt x="20801" y="3168"/>
                </a:moveTo>
                <a:cubicBezTo>
                  <a:pt x="20957" y="3168"/>
                  <a:pt x="21072" y="4062"/>
                  <a:pt x="21072" y="5201"/>
                </a:cubicBezTo>
                <a:cubicBezTo>
                  <a:pt x="21072" y="6339"/>
                  <a:pt x="20957" y="7233"/>
                  <a:pt x="20801" y="7233"/>
                </a:cubicBezTo>
                <a:cubicBezTo>
                  <a:pt x="20644" y="7233"/>
                  <a:pt x="20531" y="6359"/>
                  <a:pt x="20531" y="5201"/>
                </a:cubicBezTo>
                <a:cubicBezTo>
                  <a:pt x="20531" y="4052"/>
                  <a:pt x="20646" y="3168"/>
                  <a:pt x="20801" y="3168"/>
                </a:cubicBezTo>
                <a:close/>
                <a:moveTo>
                  <a:pt x="17709" y="3168"/>
                </a:moveTo>
                <a:cubicBezTo>
                  <a:pt x="17864" y="3168"/>
                  <a:pt x="17979" y="4062"/>
                  <a:pt x="17979" y="5201"/>
                </a:cubicBezTo>
                <a:cubicBezTo>
                  <a:pt x="17979" y="6339"/>
                  <a:pt x="17864" y="7233"/>
                  <a:pt x="17708" y="7233"/>
                </a:cubicBezTo>
                <a:cubicBezTo>
                  <a:pt x="17552" y="7233"/>
                  <a:pt x="17438" y="6359"/>
                  <a:pt x="17438" y="5201"/>
                </a:cubicBezTo>
                <a:cubicBezTo>
                  <a:pt x="17438" y="4052"/>
                  <a:pt x="17553" y="3168"/>
                  <a:pt x="17709" y="3168"/>
                </a:cubicBezTo>
                <a:close/>
                <a:moveTo>
                  <a:pt x="14533" y="2957"/>
                </a:moveTo>
                <a:cubicBezTo>
                  <a:pt x="14889" y="2957"/>
                  <a:pt x="15141" y="4339"/>
                  <a:pt x="15216" y="6436"/>
                </a:cubicBezTo>
                <a:lnTo>
                  <a:pt x="15005" y="6933"/>
                </a:lnTo>
                <a:cubicBezTo>
                  <a:pt x="14950" y="5464"/>
                  <a:pt x="14762" y="4536"/>
                  <a:pt x="14533" y="4536"/>
                </a:cubicBezTo>
                <a:cubicBezTo>
                  <a:pt x="14252" y="4536"/>
                  <a:pt x="14101" y="5725"/>
                  <a:pt x="14101" y="7000"/>
                </a:cubicBezTo>
                <a:cubicBezTo>
                  <a:pt x="14101" y="8488"/>
                  <a:pt x="14261" y="9116"/>
                  <a:pt x="14426" y="9396"/>
                </a:cubicBezTo>
                <a:lnTo>
                  <a:pt x="14724" y="9914"/>
                </a:lnTo>
                <a:cubicBezTo>
                  <a:pt x="15005" y="10411"/>
                  <a:pt x="15260" y="11706"/>
                  <a:pt x="15260" y="14256"/>
                </a:cubicBezTo>
                <a:cubicBezTo>
                  <a:pt x="15260" y="16590"/>
                  <a:pt x="14993" y="18639"/>
                  <a:pt x="14541" y="18639"/>
                </a:cubicBezTo>
                <a:cubicBezTo>
                  <a:pt x="14179" y="18639"/>
                  <a:pt x="13881" y="17431"/>
                  <a:pt x="13785" y="14774"/>
                </a:cubicBezTo>
                <a:lnTo>
                  <a:pt x="14002" y="14276"/>
                </a:lnTo>
                <a:cubicBezTo>
                  <a:pt x="14069" y="16089"/>
                  <a:pt x="14257" y="17040"/>
                  <a:pt x="14541" y="17040"/>
                </a:cubicBezTo>
                <a:cubicBezTo>
                  <a:pt x="14839" y="17040"/>
                  <a:pt x="15019" y="15809"/>
                  <a:pt x="15019" y="14253"/>
                </a:cubicBezTo>
                <a:cubicBezTo>
                  <a:pt x="15019" y="12698"/>
                  <a:pt x="14880" y="11900"/>
                  <a:pt x="14663" y="11533"/>
                </a:cubicBezTo>
                <a:lnTo>
                  <a:pt x="14371" y="11035"/>
                </a:lnTo>
                <a:cubicBezTo>
                  <a:pt x="14133" y="10625"/>
                  <a:pt x="13873" y="9503"/>
                  <a:pt x="13873" y="6996"/>
                </a:cubicBezTo>
                <a:cubicBezTo>
                  <a:pt x="13873" y="4706"/>
                  <a:pt x="14130" y="2957"/>
                  <a:pt x="14533" y="2957"/>
                </a:cubicBezTo>
                <a:close/>
                <a:moveTo>
                  <a:pt x="4072" y="1078"/>
                </a:moveTo>
                <a:lnTo>
                  <a:pt x="4651" y="1078"/>
                </a:lnTo>
                <a:lnTo>
                  <a:pt x="4651" y="3238"/>
                </a:lnTo>
                <a:lnTo>
                  <a:pt x="4072" y="3238"/>
                </a:lnTo>
                <a:close/>
                <a:moveTo>
                  <a:pt x="3202" y="1078"/>
                </a:moveTo>
                <a:lnTo>
                  <a:pt x="3782" y="1078"/>
                </a:lnTo>
                <a:lnTo>
                  <a:pt x="3782" y="3238"/>
                </a:lnTo>
                <a:lnTo>
                  <a:pt x="3202" y="3238"/>
                </a:lnTo>
                <a:close/>
                <a:moveTo>
                  <a:pt x="3782" y="0"/>
                </a:moveTo>
                <a:lnTo>
                  <a:pt x="4071" y="0"/>
                </a:lnTo>
                <a:lnTo>
                  <a:pt x="4071" y="1078"/>
                </a:lnTo>
                <a:lnTo>
                  <a:pt x="3782" y="1078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4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6CB4B4D-7CA3-9044-876B-883B54F8677D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5580873"/>
      </p:ext>
    </p:extLst>
  </p:cSld>
  <p:clrMapOvr>
    <a:masterClrMapping/>
  </p:clrMapOvr>
  <p:transition spd="med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6A5F254-E416-DBBB-81C9-88B9BEE9D3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5" imgH="405" progId="TCLayout.ActiveDocument.1">
                  <p:embed/>
                </p:oleObj>
              </mc:Choice>
              <mc:Fallback>
                <p:oleObj name="Slide do think-cell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A5F254-E416-DBBB-81C9-88B9BEE9D3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0" name="Google Shape;54;p13"/>
          <p:cNvSpPr txBox="1">
            <a:spLocks noGrp="1"/>
          </p:cNvSpPr>
          <p:nvPr>
            <p:ph type="title"/>
          </p:nvPr>
        </p:nvSpPr>
        <p:spPr>
          <a:xfrm>
            <a:off x="3976716" y="1427221"/>
            <a:ext cx="7809396" cy="178982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/>
            <a:r>
              <a:rPr lang="pt-PT" b="1" noProof="0" dirty="0" err="1"/>
              <a:t>Telco</a:t>
            </a:r>
            <a:r>
              <a:rPr lang="pt-PT" b="1" noProof="0" dirty="0"/>
              <a:t> </a:t>
            </a:r>
            <a:r>
              <a:rPr lang="pt-PT" b="1" noProof="0" dirty="0" err="1"/>
              <a:t>Customer</a:t>
            </a:r>
            <a:r>
              <a:rPr lang="pt-PT" b="1" noProof="0" dirty="0"/>
              <a:t> </a:t>
            </a:r>
            <a:r>
              <a:rPr lang="pt-PT" b="1" noProof="0" dirty="0" err="1"/>
              <a:t>Churn</a:t>
            </a:r>
            <a:br>
              <a:rPr lang="pt-PT" sz="5400" b="1" noProof="0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</a:br>
            <a:r>
              <a:rPr lang="pt-PT" sz="2200" b="1" noProof="0" dirty="0" err="1">
                <a:solidFill>
                  <a:srgbClr val="1FC7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Retention</a:t>
            </a:r>
            <a:r>
              <a:rPr lang="pt-PT" sz="2200" b="1" noProof="0" dirty="0">
                <a:solidFill>
                  <a:srgbClr val="1FC7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Management</a:t>
            </a:r>
            <a:br>
              <a:rPr lang="pt-PT" sz="2200" b="1" noProof="0" dirty="0">
                <a:solidFill>
                  <a:srgbClr val="1FC7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</a:br>
            <a:br>
              <a:rPr lang="pt-PT" sz="2200" b="1" noProof="0" dirty="0">
                <a:solidFill>
                  <a:srgbClr val="1FC7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</a:br>
            <a:r>
              <a:rPr lang="pt-PT" sz="1800" b="1" noProof="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Grupo EDSB26_G1 – TP2</a:t>
            </a:r>
            <a:endParaRPr lang="pt-PT" sz="5400" noProof="0" dirty="0"/>
          </a:p>
        </p:txBody>
      </p:sp>
      <p:sp>
        <p:nvSpPr>
          <p:cNvPr id="521" name="Google Shape;55;p13"/>
          <p:cNvSpPr txBox="1">
            <a:spLocks noGrp="1"/>
          </p:cNvSpPr>
          <p:nvPr>
            <p:ph type="body" sz="quarter" idx="1"/>
          </p:nvPr>
        </p:nvSpPr>
        <p:spPr>
          <a:xfrm>
            <a:off x="3976716" y="3558209"/>
            <a:ext cx="6938934" cy="167101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pt-PT" sz="1400" noProof="0" dirty="0">
                <a:solidFill>
                  <a:srgbClr val="595959"/>
                </a:solidFill>
                <a:latin typeface="Arial"/>
                <a:ea typeface="Helvetica Neue Light" panose="02000403000000020004" pitchFamily="2" charset="0"/>
                <a:cs typeface="Arial"/>
              </a:rPr>
              <a:t>Francisco Monteiro, 20251694@novaims.unl.pt</a:t>
            </a:r>
          </a:p>
          <a:p>
            <a:pPr>
              <a:lnSpc>
                <a:spcPct val="150000"/>
              </a:lnSpc>
            </a:pPr>
            <a:r>
              <a:rPr lang="pt-PT" sz="1400" noProof="0" dirty="0">
                <a:solidFill>
                  <a:srgbClr val="595959"/>
                </a:solidFill>
                <a:latin typeface="Arial"/>
                <a:ea typeface="Helvetica Neue Light" panose="02000403000000020004" pitchFamily="2" charset="0"/>
                <a:cs typeface="Arial"/>
              </a:rPr>
              <a:t>José Grave, 20251843@novaims.unl.pt</a:t>
            </a:r>
          </a:p>
          <a:p>
            <a:pPr>
              <a:lnSpc>
                <a:spcPct val="150000"/>
              </a:lnSpc>
            </a:pPr>
            <a:r>
              <a:rPr lang="pt-PT" sz="1400" noProof="0" dirty="0">
                <a:solidFill>
                  <a:srgbClr val="595959"/>
                </a:solidFill>
                <a:latin typeface="Arial"/>
                <a:ea typeface="Helvetica Neue Light" panose="02000403000000020004" pitchFamily="2" charset="0"/>
                <a:cs typeface="Arial"/>
              </a:rPr>
              <a:t>Tiago Vacas Felgueira, 20242047@novaims.unl.pt</a:t>
            </a:r>
          </a:p>
        </p:txBody>
      </p:sp>
      <p:sp>
        <p:nvSpPr>
          <p:cNvPr id="522" name="Google Shape;57;p13"/>
          <p:cNvSpPr txBox="1"/>
          <p:nvPr/>
        </p:nvSpPr>
        <p:spPr>
          <a:xfrm>
            <a:off x="3960514" y="6238592"/>
            <a:ext cx="7250961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899" tIns="121899" rIns="121899" bIns="121899">
            <a:spAutoFit/>
          </a:bodyPr>
          <a:lstStyle/>
          <a:p>
            <a:pPr>
              <a:defRPr sz="160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Enterprise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Data </a:t>
            </a: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Science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</a:t>
            </a: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Bootcamp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</a:t>
            </a:r>
            <a:r>
              <a:rPr lang="pt-PT" noProof="0" dirty="0">
                <a:latin typeface="Arial" panose="020B0604020202020204" pitchFamily="34" charset="0"/>
                <a:cs typeface="Arial" panose="020B0604020202020204" pitchFamily="34" charset="0"/>
              </a:rPr>
              <a:t>EDSA/2026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D5F2-E713-5EC8-7621-47B52FFE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396793-0235-11A8-181A-63DA32B2C85F}"/>
              </a:ext>
            </a:extLst>
          </p:cNvPr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kern="0" spc="200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EDSB 2026 – 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Projeto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Telco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Churn</a:t>
            </a:r>
            <a:endParaRPr lang="pt-PT" sz="1100" noProof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916992-2CC3-AF82-D6A6-54AC5D4544F2}"/>
              </a:ext>
            </a:extLst>
          </p:cNvPr>
          <p:cNvSpPr/>
          <p:nvPr/>
        </p:nvSpPr>
        <p:spPr>
          <a:xfrm>
            <a:off x="530352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200" b="1" noProof="0" dirty="0">
                <a:solidFill>
                  <a:srgbClr val="17271E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Arquitetura do pipeline </a:t>
            </a:r>
            <a:r>
              <a:rPr lang="pt-PT" sz="3200" b="1" noProof="0" dirty="0">
                <a:solidFill>
                  <a:srgbClr val="3876FF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de pré-processamento</a:t>
            </a:r>
            <a:endParaRPr lang="pt-PT" sz="3600" b="1" noProof="0" dirty="0">
              <a:solidFill>
                <a:srgbClr val="3876FF"/>
              </a:solidFill>
              <a:latin typeface="Borna" panose="020B0604020202020204" charset="0"/>
            </a:endParaRPr>
          </a:p>
        </p:txBody>
      </p:sp>
      <p:pic>
        <p:nvPicPr>
          <p:cNvPr id="20" name="Image 0" descr="assets/nova_dark.png">
            <a:extLst>
              <a:ext uri="{FF2B5EF4-FFF2-40B4-BE49-F238E27FC236}">
                <a16:creationId xmlns:a16="http://schemas.microsoft.com/office/drawing/2014/main" id="{61D31DC9-6085-0756-F0C7-F97DC551C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91072"/>
            <a:ext cx="1371600" cy="184121"/>
          </a:xfrm>
          <a:prstGeom prst="rect">
            <a:avLst/>
          </a:prstGeom>
        </p:spPr>
      </p:pic>
      <p:sp>
        <p:nvSpPr>
          <p:cNvPr id="22" name="Text 19">
            <a:extLst>
              <a:ext uri="{FF2B5EF4-FFF2-40B4-BE49-F238E27FC236}">
                <a16:creationId xmlns:a16="http://schemas.microsoft.com/office/drawing/2014/main" id="{828CD322-4BF8-629F-1DF0-936DDB1123B6}"/>
              </a:ext>
            </a:extLst>
          </p:cNvPr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900" b="1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pt-PT" sz="900" noProof="0" dirty="0">
              <a:latin typeface="Arial" panose="020B0604020202020204" pitchFamily="34" charset="0"/>
            </a:endParaRPr>
          </a:p>
        </p:txBody>
      </p:sp>
      <p:cxnSp>
        <p:nvCxnSpPr>
          <p:cNvPr id="23" name="Line 1"/>
          <p:cNvCxnSpPr/>
          <p:nvPr/>
        </p:nvCxnSpPr>
        <p:spPr>
          <a:xfrm>
            <a:off x="548640" y="1783080"/>
            <a:ext cx="7878209" cy="0"/>
          </a:xfrm>
          <a:prstGeom prst="line">
            <a:avLst/>
          </a:prstGeom>
          <a:ln w="15875">
            <a:solidFill>
              <a:srgbClr val="37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adge 2"/>
          <p:cNvSpPr/>
          <p:nvPr/>
        </p:nvSpPr>
        <p:spPr>
          <a:xfrm>
            <a:off x="3756224" y="1664208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7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1" noProof="0" dirty="0">
                <a:solidFill>
                  <a:srgbClr val="3777FF"/>
                </a:solidFill>
                <a:latin typeface="Arial"/>
              </a:rPr>
              <a:t>CONCLUÍDO</a:t>
            </a:r>
            <a:endParaRPr lang="pt-PT" sz="900" b="1" noProof="0" dirty="0">
              <a:solidFill>
                <a:srgbClr val="3777FF"/>
              </a:solidFill>
              <a:latin typeface="Arial"/>
            </a:endParaRPr>
          </a:p>
        </p:txBody>
      </p:sp>
      <p:sp>
        <p:nvSpPr>
          <p:cNvPr id="25" name="Badge 3"/>
          <p:cNvSpPr/>
          <p:nvPr/>
        </p:nvSpPr>
        <p:spPr>
          <a:xfrm>
            <a:off x="8622138" y="166420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EE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900" b="1" noProof="0" dirty="0">
                <a:solidFill>
                  <a:srgbClr val="000000"/>
                </a:solidFill>
                <a:latin typeface="Arial"/>
              </a:rPr>
              <a:t>PRÓXIMO PASSO</a:t>
            </a:r>
          </a:p>
        </p:txBody>
      </p:sp>
      <p:sp>
        <p:nvSpPr>
          <p:cNvPr id="26" name="Badge 4"/>
          <p:cNvSpPr/>
          <p:nvPr/>
        </p:nvSpPr>
        <p:spPr>
          <a:xfrm>
            <a:off x="10228870" y="166420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900" b="1" noProof="0" dirty="0">
                <a:solidFill>
                  <a:srgbClr val="5F6368"/>
                </a:solidFill>
                <a:latin typeface="Arial"/>
              </a:rPr>
              <a:t>FASE SEGUINTE</a:t>
            </a:r>
          </a:p>
        </p:txBody>
      </p:sp>
      <p:sp>
        <p:nvSpPr>
          <p:cNvPr id="27" name="Phase 5"/>
          <p:cNvSpPr/>
          <p:nvPr/>
        </p:nvSpPr>
        <p:spPr>
          <a:xfrm>
            <a:off x="548640" y="2011680"/>
            <a:ext cx="1451283" cy="3703320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 w="12700">
            <a:solidFill>
              <a:srgbClr val="37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28" name="Step number 6"/>
          <p:cNvSpPr/>
          <p:nvPr/>
        </p:nvSpPr>
        <p:spPr>
          <a:xfrm>
            <a:off x="658368" y="2139696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50" b="1" noProof="0" dirty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9" name="Phase title 7"/>
          <p:cNvSpPr txBox="1"/>
          <p:nvPr/>
        </p:nvSpPr>
        <p:spPr>
          <a:xfrm>
            <a:off x="658368" y="2542032"/>
            <a:ext cx="126840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3777FF"/>
                </a:solidFill>
                <a:latin typeface="Arial"/>
              </a:rPr>
              <a:t>Fontes</a:t>
            </a:r>
          </a:p>
        </p:txBody>
      </p:sp>
      <p:sp>
        <p:nvSpPr>
          <p:cNvPr id="30" name="Step 8"/>
          <p:cNvSpPr/>
          <p:nvPr/>
        </p:nvSpPr>
        <p:spPr>
          <a:xfrm>
            <a:off x="640080" y="2980944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Demographics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31" name="Step 9"/>
          <p:cNvSpPr/>
          <p:nvPr/>
        </p:nvSpPr>
        <p:spPr>
          <a:xfrm>
            <a:off x="640080" y="3364992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Location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32" name="Step 10"/>
          <p:cNvSpPr/>
          <p:nvPr/>
        </p:nvSpPr>
        <p:spPr>
          <a:xfrm>
            <a:off x="640080" y="3749040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Services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33" name="Step 11"/>
          <p:cNvSpPr/>
          <p:nvPr/>
        </p:nvSpPr>
        <p:spPr>
          <a:xfrm>
            <a:off x="640080" y="4133088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Status</a:t>
            </a:r>
          </a:p>
        </p:txBody>
      </p:sp>
      <p:sp>
        <p:nvSpPr>
          <p:cNvPr id="34" name="Step 12"/>
          <p:cNvSpPr/>
          <p:nvPr/>
        </p:nvSpPr>
        <p:spPr>
          <a:xfrm>
            <a:off x="640080" y="4517136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Population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35" name="KPI 13"/>
          <p:cNvSpPr/>
          <p:nvPr/>
        </p:nvSpPr>
        <p:spPr>
          <a:xfrm>
            <a:off x="640080" y="4928616"/>
            <a:ext cx="1268403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36" name="KPI value 14"/>
          <p:cNvSpPr txBox="1"/>
          <p:nvPr/>
        </p:nvSpPr>
        <p:spPr>
          <a:xfrm>
            <a:off x="676656" y="4991284"/>
            <a:ext cx="119525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b="1" i="0" noProof="0" dirty="0">
                <a:solidFill>
                  <a:srgbClr val="3777FF"/>
                </a:solidFill>
                <a:latin typeface="Arial"/>
              </a:rPr>
              <a:t>62</a:t>
            </a:r>
          </a:p>
        </p:txBody>
      </p:sp>
      <p:sp>
        <p:nvSpPr>
          <p:cNvPr id="37" name="KPI caption 15"/>
          <p:cNvSpPr txBox="1"/>
          <p:nvPr/>
        </p:nvSpPr>
        <p:spPr>
          <a:xfrm>
            <a:off x="676656" y="5277648"/>
            <a:ext cx="119525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colunas · 7.043 clientes</a:t>
            </a:r>
          </a:p>
        </p:txBody>
      </p:sp>
      <p:sp>
        <p:nvSpPr>
          <p:cNvPr id="38" name="Arrow 16"/>
          <p:cNvSpPr/>
          <p:nvPr/>
        </p:nvSpPr>
        <p:spPr>
          <a:xfrm rot="5400000">
            <a:off x="2013639" y="2231136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39" name="Phase 17"/>
          <p:cNvSpPr/>
          <p:nvPr/>
        </p:nvSpPr>
        <p:spPr>
          <a:xfrm>
            <a:off x="2155371" y="2011680"/>
            <a:ext cx="1451283" cy="3703320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 w="12700">
            <a:solidFill>
              <a:srgbClr val="37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40" name="Step number 18"/>
          <p:cNvSpPr/>
          <p:nvPr/>
        </p:nvSpPr>
        <p:spPr>
          <a:xfrm>
            <a:off x="2265099" y="2139696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50" b="1" noProof="0" dirty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1" name="Phase title 19"/>
          <p:cNvSpPr txBox="1"/>
          <p:nvPr/>
        </p:nvSpPr>
        <p:spPr>
          <a:xfrm>
            <a:off x="2265099" y="2542032"/>
            <a:ext cx="126840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3777FF"/>
                </a:solidFill>
                <a:latin typeface="Arial"/>
              </a:rPr>
              <a:t>Ingestão e união</a:t>
            </a:r>
          </a:p>
        </p:txBody>
      </p:sp>
      <p:sp>
        <p:nvSpPr>
          <p:cNvPr id="42" name="Step 20"/>
          <p:cNvSpPr/>
          <p:nvPr/>
        </p:nvSpPr>
        <p:spPr>
          <a:xfrm>
            <a:off x="2246811" y="2980944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Carregar (</a:t>
            </a:r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None</a:t>
            </a:r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)</a:t>
            </a:r>
          </a:p>
        </p:txBody>
      </p:sp>
      <p:sp>
        <p:nvSpPr>
          <p:cNvPr id="43" name="Step 21"/>
          <p:cNvSpPr/>
          <p:nvPr/>
        </p:nvSpPr>
        <p:spPr>
          <a:xfrm>
            <a:off x="2246811" y="3364992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Validar chaves</a:t>
            </a:r>
          </a:p>
        </p:txBody>
      </p:sp>
      <p:sp>
        <p:nvSpPr>
          <p:cNvPr id="44" name="Step 22"/>
          <p:cNvSpPr/>
          <p:nvPr/>
        </p:nvSpPr>
        <p:spPr>
          <a:xfrm>
            <a:off x="2246811" y="3749040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Unir 1:1 e N:1</a:t>
            </a:r>
          </a:p>
        </p:txBody>
      </p:sp>
      <p:sp>
        <p:nvSpPr>
          <p:cNvPr id="45" name="KPI 23"/>
          <p:cNvSpPr/>
          <p:nvPr/>
        </p:nvSpPr>
        <p:spPr>
          <a:xfrm>
            <a:off x="2246811" y="4928616"/>
            <a:ext cx="1268403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46" name="KPI value 24"/>
          <p:cNvSpPr txBox="1"/>
          <p:nvPr/>
        </p:nvSpPr>
        <p:spPr>
          <a:xfrm>
            <a:off x="2283387" y="4991284"/>
            <a:ext cx="119525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b="1" i="0" noProof="0" dirty="0">
                <a:solidFill>
                  <a:srgbClr val="3777FF"/>
                </a:solidFill>
                <a:latin typeface="Arial"/>
              </a:rPr>
              <a:t>51</a:t>
            </a:r>
          </a:p>
        </p:txBody>
      </p:sp>
      <p:sp>
        <p:nvSpPr>
          <p:cNvPr id="47" name="KPI caption 25"/>
          <p:cNvSpPr txBox="1"/>
          <p:nvPr/>
        </p:nvSpPr>
        <p:spPr>
          <a:xfrm>
            <a:off x="2283387" y="5277647"/>
            <a:ext cx="119525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colunas · 1 linha/cliente</a:t>
            </a:r>
          </a:p>
        </p:txBody>
      </p:sp>
      <p:sp>
        <p:nvSpPr>
          <p:cNvPr id="48" name="Arrow 26"/>
          <p:cNvSpPr/>
          <p:nvPr/>
        </p:nvSpPr>
        <p:spPr>
          <a:xfrm rot="5400000">
            <a:off x="3620370" y="2231136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49" name="Phase 27"/>
          <p:cNvSpPr/>
          <p:nvPr/>
        </p:nvSpPr>
        <p:spPr>
          <a:xfrm>
            <a:off x="3762102" y="2011680"/>
            <a:ext cx="1451283" cy="3703320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 w="12700">
            <a:solidFill>
              <a:srgbClr val="37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50" name="Step number 28"/>
          <p:cNvSpPr/>
          <p:nvPr/>
        </p:nvSpPr>
        <p:spPr>
          <a:xfrm>
            <a:off x="3871830" y="2139696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50" b="1" noProof="0" dirty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1" name="Phase title 29"/>
          <p:cNvSpPr txBox="1"/>
          <p:nvPr/>
        </p:nvSpPr>
        <p:spPr>
          <a:xfrm>
            <a:off x="3871830" y="2542032"/>
            <a:ext cx="126840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3777FF"/>
                </a:solidFill>
                <a:latin typeface="Arial"/>
              </a:rPr>
              <a:t>Qualidade e target</a:t>
            </a:r>
          </a:p>
        </p:txBody>
      </p:sp>
      <p:sp>
        <p:nvSpPr>
          <p:cNvPr id="52" name="Step 30"/>
          <p:cNvSpPr/>
          <p:nvPr/>
        </p:nvSpPr>
        <p:spPr>
          <a:xfrm>
            <a:off x="3853542" y="2980944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Qualidade de dados</a:t>
            </a:r>
          </a:p>
        </p:txBody>
      </p:sp>
      <p:sp>
        <p:nvSpPr>
          <p:cNvPr id="53" name="Step 31"/>
          <p:cNvSpPr/>
          <p:nvPr/>
        </p:nvSpPr>
        <p:spPr>
          <a:xfrm>
            <a:off x="3853542" y="3364992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Churned</a:t>
            </a:r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 + </a:t>
            </a:r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Stayed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54" name="Step 32"/>
          <p:cNvSpPr/>
          <p:nvPr/>
        </p:nvSpPr>
        <p:spPr>
          <a:xfrm>
            <a:off x="3853542" y="3749040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Papéis das variáveis</a:t>
            </a:r>
          </a:p>
        </p:txBody>
      </p:sp>
      <p:sp>
        <p:nvSpPr>
          <p:cNvPr id="55" name="KPI 33"/>
          <p:cNvSpPr/>
          <p:nvPr/>
        </p:nvSpPr>
        <p:spPr>
          <a:xfrm>
            <a:off x="3853542" y="4928616"/>
            <a:ext cx="1268403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56" name="KPI value 34"/>
          <p:cNvSpPr txBox="1"/>
          <p:nvPr/>
        </p:nvSpPr>
        <p:spPr>
          <a:xfrm>
            <a:off x="3890118" y="4991284"/>
            <a:ext cx="119525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b="1" i="0" noProof="0" dirty="0">
                <a:solidFill>
                  <a:srgbClr val="3777FF"/>
                </a:solidFill>
                <a:latin typeface="Arial"/>
              </a:rPr>
              <a:t>28,4%</a:t>
            </a:r>
          </a:p>
        </p:txBody>
      </p:sp>
      <p:sp>
        <p:nvSpPr>
          <p:cNvPr id="57" name="KPI caption 35"/>
          <p:cNvSpPr txBox="1"/>
          <p:nvPr/>
        </p:nvSpPr>
        <p:spPr>
          <a:xfrm>
            <a:off x="3890118" y="5277647"/>
            <a:ext cx="119525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000" b="0" i="0" noProof="0" dirty="0" err="1">
                <a:solidFill>
                  <a:srgbClr val="5F6368"/>
                </a:solidFill>
                <a:latin typeface="Arial"/>
              </a:rPr>
              <a:t>churn</a:t>
            </a:r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 · 6.589 clientes</a:t>
            </a:r>
          </a:p>
        </p:txBody>
      </p:sp>
      <p:sp>
        <p:nvSpPr>
          <p:cNvPr id="58" name="Arrow 36"/>
          <p:cNvSpPr/>
          <p:nvPr/>
        </p:nvSpPr>
        <p:spPr>
          <a:xfrm rot="5400000">
            <a:off x="5227102" y="2231136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59" name="Phase 37"/>
          <p:cNvSpPr/>
          <p:nvPr/>
        </p:nvSpPr>
        <p:spPr>
          <a:xfrm>
            <a:off x="5368834" y="2011680"/>
            <a:ext cx="1451283" cy="3703320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 w="12700">
            <a:solidFill>
              <a:srgbClr val="37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60" name="Step number 38"/>
          <p:cNvSpPr/>
          <p:nvPr/>
        </p:nvSpPr>
        <p:spPr>
          <a:xfrm>
            <a:off x="5478562" y="2139696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50" b="1" noProof="0" dirty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1" name="Phase title 39"/>
          <p:cNvSpPr txBox="1"/>
          <p:nvPr/>
        </p:nvSpPr>
        <p:spPr>
          <a:xfrm>
            <a:off x="5478562" y="2542032"/>
            <a:ext cx="126840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3777FF"/>
                </a:solidFill>
                <a:latin typeface="Arial"/>
              </a:rPr>
              <a:t>Exploração (EDA)</a:t>
            </a:r>
          </a:p>
        </p:txBody>
      </p:sp>
      <p:sp>
        <p:nvSpPr>
          <p:cNvPr id="62" name="Step 40"/>
          <p:cNvSpPr/>
          <p:nvPr/>
        </p:nvSpPr>
        <p:spPr>
          <a:xfrm>
            <a:off x="5460274" y="2980944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Numéricas</a:t>
            </a:r>
          </a:p>
        </p:txBody>
      </p:sp>
      <p:sp>
        <p:nvSpPr>
          <p:cNvPr id="63" name="Step 41"/>
          <p:cNvSpPr/>
          <p:nvPr/>
        </p:nvSpPr>
        <p:spPr>
          <a:xfrm>
            <a:off x="5460274" y="3364992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Categóricas</a:t>
            </a:r>
          </a:p>
        </p:txBody>
      </p:sp>
      <p:sp>
        <p:nvSpPr>
          <p:cNvPr id="64" name="Step 42"/>
          <p:cNvSpPr/>
          <p:nvPr/>
        </p:nvSpPr>
        <p:spPr>
          <a:xfrm>
            <a:off x="5460274" y="3749040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MI e </a:t>
            </a:r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leakage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65" name="KPI 43"/>
          <p:cNvSpPr/>
          <p:nvPr/>
        </p:nvSpPr>
        <p:spPr>
          <a:xfrm>
            <a:off x="5460274" y="4928616"/>
            <a:ext cx="1268403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66" name="KPI value 44"/>
          <p:cNvSpPr txBox="1"/>
          <p:nvPr/>
        </p:nvSpPr>
        <p:spPr>
          <a:xfrm>
            <a:off x="5496850" y="4991284"/>
            <a:ext cx="119525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b="1" i="0" noProof="0" dirty="0">
                <a:solidFill>
                  <a:srgbClr val="3777FF"/>
                </a:solidFill>
                <a:latin typeface="Arial"/>
              </a:rPr>
              <a:t>42</a:t>
            </a:r>
          </a:p>
        </p:txBody>
      </p:sp>
      <p:sp>
        <p:nvSpPr>
          <p:cNvPr id="67" name="KPI caption 45"/>
          <p:cNvSpPr txBox="1"/>
          <p:nvPr/>
        </p:nvSpPr>
        <p:spPr>
          <a:xfrm>
            <a:off x="5496850" y="5354592"/>
            <a:ext cx="119525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gráficos · 7 tabelas</a:t>
            </a:r>
          </a:p>
        </p:txBody>
      </p:sp>
      <p:sp>
        <p:nvSpPr>
          <p:cNvPr id="68" name="Arrow 46"/>
          <p:cNvSpPr/>
          <p:nvPr/>
        </p:nvSpPr>
        <p:spPr>
          <a:xfrm rot="5400000">
            <a:off x="6833833" y="2231136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69" name="Phase 47"/>
          <p:cNvSpPr/>
          <p:nvPr/>
        </p:nvSpPr>
        <p:spPr>
          <a:xfrm>
            <a:off x="6975565" y="2011680"/>
            <a:ext cx="1451283" cy="3703320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 w="12700">
            <a:solidFill>
              <a:srgbClr val="37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70" name="Step number 48"/>
          <p:cNvSpPr/>
          <p:nvPr/>
        </p:nvSpPr>
        <p:spPr>
          <a:xfrm>
            <a:off x="7085293" y="2139696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50" b="1" noProof="0" dirty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71" name="Phase title 49"/>
          <p:cNvSpPr txBox="1"/>
          <p:nvPr/>
        </p:nvSpPr>
        <p:spPr>
          <a:xfrm>
            <a:off x="7085293" y="2542032"/>
            <a:ext cx="126840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3777FF"/>
                </a:solidFill>
                <a:latin typeface="Arial"/>
              </a:rPr>
              <a:t>Preparação</a:t>
            </a:r>
          </a:p>
        </p:txBody>
      </p:sp>
      <p:sp>
        <p:nvSpPr>
          <p:cNvPr id="72" name="Step 50"/>
          <p:cNvSpPr/>
          <p:nvPr/>
        </p:nvSpPr>
        <p:spPr>
          <a:xfrm>
            <a:off x="7067005" y="2980944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Feature</a:t>
            </a:r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 </a:t>
            </a:r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engineering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73" name="Step 51"/>
          <p:cNvSpPr/>
          <p:nvPr/>
        </p:nvSpPr>
        <p:spPr>
          <a:xfrm>
            <a:off x="7067005" y="3364992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Split 80/20</a:t>
            </a:r>
          </a:p>
        </p:txBody>
      </p:sp>
      <p:sp>
        <p:nvSpPr>
          <p:cNvPr id="74" name="Step 52"/>
          <p:cNvSpPr/>
          <p:nvPr/>
        </p:nvSpPr>
        <p:spPr>
          <a:xfrm>
            <a:off x="7067005" y="3749040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ColumnTransformers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75" name="Step 53"/>
          <p:cNvSpPr/>
          <p:nvPr/>
        </p:nvSpPr>
        <p:spPr>
          <a:xfrm>
            <a:off x="7067005" y="4133088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Exportação</a:t>
            </a:r>
          </a:p>
        </p:txBody>
      </p:sp>
      <p:sp>
        <p:nvSpPr>
          <p:cNvPr id="76" name="KPI 54"/>
          <p:cNvSpPr/>
          <p:nvPr/>
        </p:nvSpPr>
        <p:spPr>
          <a:xfrm>
            <a:off x="7067005" y="4928616"/>
            <a:ext cx="1268403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77" name="KPI value 55"/>
          <p:cNvSpPr txBox="1"/>
          <p:nvPr/>
        </p:nvSpPr>
        <p:spPr>
          <a:xfrm>
            <a:off x="7103581" y="4991284"/>
            <a:ext cx="119525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b="1" i="0" noProof="0" dirty="0">
                <a:solidFill>
                  <a:srgbClr val="3777FF"/>
                </a:solidFill>
                <a:latin typeface="Arial"/>
              </a:rPr>
              <a:t>48</a:t>
            </a:r>
          </a:p>
        </p:txBody>
      </p:sp>
      <p:sp>
        <p:nvSpPr>
          <p:cNvPr id="78" name="KPI caption 56"/>
          <p:cNvSpPr txBox="1"/>
          <p:nvPr/>
        </p:nvSpPr>
        <p:spPr>
          <a:xfrm>
            <a:off x="7103581" y="5354592"/>
            <a:ext cx="119525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1000" b="0" i="0" noProof="0" dirty="0" err="1">
                <a:solidFill>
                  <a:srgbClr val="5F6368"/>
                </a:solidFill>
                <a:latin typeface="Arial"/>
              </a:rPr>
              <a:t>features</a:t>
            </a:r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 · 41 colunas</a:t>
            </a:r>
          </a:p>
        </p:txBody>
      </p:sp>
      <p:sp>
        <p:nvSpPr>
          <p:cNvPr id="79" name="Arrow 57"/>
          <p:cNvSpPr/>
          <p:nvPr/>
        </p:nvSpPr>
        <p:spPr>
          <a:xfrm rot="5400000">
            <a:off x="8440565" y="2231136"/>
            <a:ext cx="128016" cy="146304"/>
          </a:xfrm>
          <a:prstGeom prst="triangle">
            <a:avLst/>
          </a:prstGeom>
          <a:solidFill>
            <a:srgbClr val="0EE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80" name="Phase 58"/>
          <p:cNvSpPr/>
          <p:nvPr/>
        </p:nvSpPr>
        <p:spPr>
          <a:xfrm>
            <a:off x="8582297" y="2011680"/>
            <a:ext cx="1451283" cy="3703320"/>
          </a:xfrm>
          <a:prstGeom prst="roundRect">
            <a:avLst>
              <a:gd name="adj" fmla="val 6000"/>
            </a:avLst>
          </a:prstGeom>
          <a:solidFill>
            <a:srgbClr val="E8FBF1"/>
          </a:solidFill>
          <a:ln w="28575">
            <a:solidFill>
              <a:srgbClr val="0EE0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81" name="Step number 59"/>
          <p:cNvSpPr/>
          <p:nvPr/>
        </p:nvSpPr>
        <p:spPr>
          <a:xfrm>
            <a:off x="8692025" y="2139696"/>
            <a:ext cx="329184" cy="329184"/>
          </a:xfrm>
          <a:prstGeom prst="ellipse">
            <a:avLst/>
          </a:prstGeom>
          <a:solidFill>
            <a:srgbClr val="0EE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50" b="1" noProof="0" dirty="0">
                <a:solidFill>
                  <a:srgbClr val="000000"/>
                </a:solidFill>
                <a:latin typeface="Arial"/>
              </a:rPr>
              <a:t>06</a:t>
            </a:r>
          </a:p>
        </p:txBody>
      </p:sp>
      <p:sp>
        <p:nvSpPr>
          <p:cNvPr id="82" name="Phase title 60"/>
          <p:cNvSpPr txBox="1"/>
          <p:nvPr/>
        </p:nvSpPr>
        <p:spPr>
          <a:xfrm>
            <a:off x="8692025" y="2542032"/>
            <a:ext cx="126840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17271E"/>
                </a:solidFill>
                <a:latin typeface="Arial"/>
              </a:rPr>
              <a:t>Modelação ensemble</a:t>
            </a:r>
          </a:p>
        </p:txBody>
      </p:sp>
      <p:sp>
        <p:nvSpPr>
          <p:cNvPr id="83" name="Step 61"/>
          <p:cNvSpPr/>
          <p:nvPr/>
        </p:nvSpPr>
        <p:spPr>
          <a:xfrm>
            <a:off x="8673737" y="2980944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8E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Baselines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84" name="Step 62"/>
          <p:cNvSpPr/>
          <p:nvPr/>
        </p:nvSpPr>
        <p:spPr>
          <a:xfrm>
            <a:off x="8673737" y="3364992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8E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RF · GBM · </a:t>
            </a:r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XGBoost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85" name="Step 63"/>
          <p:cNvSpPr/>
          <p:nvPr/>
        </p:nvSpPr>
        <p:spPr>
          <a:xfrm>
            <a:off x="8673737" y="3749040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8E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Tuning</a:t>
            </a:r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 CV (5 </a:t>
            </a:r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folds</a:t>
            </a:r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)</a:t>
            </a:r>
          </a:p>
        </p:txBody>
      </p:sp>
      <p:sp>
        <p:nvSpPr>
          <p:cNvPr id="86" name="Step 64"/>
          <p:cNvSpPr/>
          <p:nvPr/>
        </p:nvSpPr>
        <p:spPr>
          <a:xfrm>
            <a:off x="8673737" y="4133088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8E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Avaliação </a:t>
            </a:r>
            <a:r>
              <a:rPr lang="pt-PT" sz="1000" b="0" noProof="0" dirty="0" err="1">
                <a:solidFill>
                  <a:srgbClr val="17271E"/>
                </a:solidFill>
                <a:latin typeface="Arial"/>
              </a:rPr>
              <a:t>holdout</a:t>
            </a:r>
            <a:endParaRPr lang="pt-PT" sz="1000" b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87" name="Step 65"/>
          <p:cNvSpPr/>
          <p:nvPr/>
        </p:nvSpPr>
        <p:spPr>
          <a:xfrm>
            <a:off x="8673737" y="4517136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8E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17271E"/>
                </a:solidFill>
                <a:latin typeface="Arial"/>
              </a:rPr>
              <a:t>SHAP / importância</a:t>
            </a:r>
          </a:p>
        </p:txBody>
      </p:sp>
      <p:sp>
        <p:nvSpPr>
          <p:cNvPr id="88" name="KPI 66"/>
          <p:cNvSpPr/>
          <p:nvPr/>
        </p:nvSpPr>
        <p:spPr>
          <a:xfrm>
            <a:off x="8673737" y="4928616"/>
            <a:ext cx="1268403" cy="676656"/>
          </a:xfrm>
          <a:prstGeom prst="roundRect">
            <a:avLst>
              <a:gd name="adj" fmla="val 12000"/>
            </a:avLst>
          </a:prstGeom>
          <a:solidFill>
            <a:srgbClr val="0EE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89" name="KPI value 67"/>
          <p:cNvSpPr txBox="1"/>
          <p:nvPr/>
        </p:nvSpPr>
        <p:spPr>
          <a:xfrm>
            <a:off x="8710313" y="4991284"/>
            <a:ext cx="119525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b="1" i="0" noProof="0" dirty="0">
                <a:solidFill>
                  <a:srgbClr val="000000"/>
                </a:solidFill>
                <a:latin typeface="Arial"/>
              </a:rPr>
              <a:t>&gt; 0,941</a:t>
            </a:r>
          </a:p>
        </p:txBody>
      </p:sp>
      <p:sp>
        <p:nvSpPr>
          <p:cNvPr id="90" name="KPI caption 68"/>
          <p:cNvSpPr txBox="1"/>
          <p:nvPr/>
        </p:nvSpPr>
        <p:spPr>
          <a:xfrm>
            <a:off x="8710313" y="5362286"/>
            <a:ext cx="11952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900" b="0" i="0" noProof="0" dirty="0">
                <a:solidFill>
                  <a:srgbClr val="000000"/>
                </a:solidFill>
                <a:latin typeface="Arial"/>
              </a:rPr>
              <a:t>AUC a superar (IBM)</a:t>
            </a:r>
          </a:p>
        </p:txBody>
      </p:sp>
      <p:sp>
        <p:nvSpPr>
          <p:cNvPr id="91" name="Arrow 69"/>
          <p:cNvSpPr/>
          <p:nvPr/>
        </p:nvSpPr>
        <p:spPr>
          <a:xfrm rot="5400000">
            <a:off x="10047296" y="2231136"/>
            <a:ext cx="128016" cy="146304"/>
          </a:xfrm>
          <a:prstGeom prst="triangl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92" name="Phase 70"/>
          <p:cNvSpPr/>
          <p:nvPr/>
        </p:nvSpPr>
        <p:spPr>
          <a:xfrm>
            <a:off x="10189028" y="2011680"/>
            <a:ext cx="1451283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93" name="Step number 71"/>
          <p:cNvSpPr/>
          <p:nvPr/>
        </p:nvSpPr>
        <p:spPr>
          <a:xfrm>
            <a:off x="10298756" y="2139696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50" b="1" noProof="0" dirty="0">
                <a:solidFill>
                  <a:srgbClr val="5F6368"/>
                </a:solidFill>
                <a:latin typeface="Arial"/>
              </a:rPr>
              <a:t>07</a:t>
            </a:r>
          </a:p>
        </p:txBody>
      </p:sp>
      <p:sp>
        <p:nvSpPr>
          <p:cNvPr id="94" name="Phase title 72"/>
          <p:cNvSpPr txBox="1"/>
          <p:nvPr/>
        </p:nvSpPr>
        <p:spPr>
          <a:xfrm>
            <a:off x="10298756" y="2542032"/>
            <a:ext cx="126840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5F6368"/>
                </a:solidFill>
                <a:latin typeface="Arial"/>
              </a:rPr>
              <a:t>Priorização e entrega</a:t>
            </a:r>
          </a:p>
        </p:txBody>
      </p:sp>
      <p:sp>
        <p:nvSpPr>
          <p:cNvPr id="95" name="Step 73"/>
          <p:cNvSpPr/>
          <p:nvPr/>
        </p:nvSpPr>
        <p:spPr>
          <a:xfrm>
            <a:off x="10280468" y="2980944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P(</a:t>
            </a:r>
            <a:r>
              <a:rPr lang="pt-PT" sz="1000" b="0" noProof="0" dirty="0" err="1">
                <a:solidFill>
                  <a:srgbClr val="5F6368"/>
                </a:solidFill>
                <a:latin typeface="Arial"/>
              </a:rPr>
              <a:t>churn</a:t>
            </a:r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) × CLTV</a:t>
            </a:r>
          </a:p>
        </p:txBody>
      </p:sp>
      <p:sp>
        <p:nvSpPr>
          <p:cNvPr id="96" name="Step 74"/>
          <p:cNvSpPr/>
          <p:nvPr/>
        </p:nvSpPr>
        <p:spPr>
          <a:xfrm>
            <a:off x="10280468" y="3364992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Lista de intervenção</a:t>
            </a:r>
          </a:p>
        </p:txBody>
      </p:sp>
      <p:sp>
        <p:nvSpPr>
          <p:cNvPr id="97" name="Step 75"/>
          <p:cNvSpPr/>
          <p:nvPr/>
        </p:nvSpPr>
        <p:spPr>
          <a:xfrm>
            <a:off x="10280468" y="3749040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 err="1">
                <a:solidFill>
                  <a:srgbClr val="5F6368"/>
                </a:solidFill>
                <a:latin typeface="Arial"/>
              </a:rPr>
              <a:t>Scoring</a:t>
            </a:r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 dos </a:t>
            </a:r>
            <a:r>
              <a:rPr lang="pt-PT" sz="1000" b="0" noProof="0" dirty="0" err="1">
                <a:solidFill>
                  <a:srgbClr val="5F6368"/>
                </a:solidFill>
                <a:latin typeface="Arial"/>
              </a:rPr>
              <a:t>Joined</a:t>
            </a:r>
            <a:endParaRPr lang="pt-PT" sz="1000" b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98" name="Step 76"/>
          <p:cNvSpPr/>
          <p:nvPr/>
        </p:nvSpPr>
        <p:spPr>
          <a:xfrm>
            <a:off x="10280468" y="4133088"/>
            <a:ext cx="1268403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l"/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Demo </a:t>
            </a:r>
            <a:r>
              <a:rPr lang="pt-PT" sz="1000" b="0" noProof="0" dirty="0" err="1">
                <a:solidFill>
                  <a:srgbClr val="5F6368"/>
                </a:solidFill>
                <a:latin typeface="Arial"/>
              </a:rPr>
              <a:t>Gradio</a:t>
            </a:r>
            <a:endParaRPr lang="pt-PT" sz="1000" b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99" name="KPI 77"/>
          <p:cNvSpPr/>
          <p:nvPr/>
        </p:nvSpPr>
        <p:spPr>
          <a:xfrm>
            <a:off x="10280468" y="4928616"/>
            <a:ext cx="1268403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100" name="KPI value 78"/>
          <p:cNvSpPr txBox="1"/>
          <p:nvPr/>
        </p:nvSpPr>
        <p:spPr>
          <a:xfrm>
            <a:off x="10317044" y="4991284"/>
            <a:ext cx="119525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b="1" i="0" noProof="0" dirty="0">
                <a:solidFill>
                  <a:srgbClr val="5F6368"/>
                </a:solidFill>
                <a:latin typeface="Arial"/>
              </a:rPr>
              <a:t>Top-k</a:t>
            </a:r>
          </a:p>
        </p:txBody>
      </p:sp>
      <p:sp>
        <p:nvSpPr>
          <p:cNvPr id="101" name="KPI caption 79"/>
          <p:cNvSpPr txBox="1"/>
          <p:nvPr/>
        </p:nvSpPr>
        <p:spPr>
          <a:xfrm>
            <a:off x="10317044" y="5362286"/>
            <a:ext cx="11952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clientes a contactar</a:t>
            </a:r>
          </a:p>
        </p:txBody>
      </p:sp>
    </p:spTree>
    <p:extLst>
      <p:ext uri="{BB962C8B-B14F-4D97-AF65-F5344CB8AC3E}">
        <p14:creationId xmlns:p14="http://schemas.microsoft.com/office/powerpoint/2010/main" val="205081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E141-A044-B452-6E33-CFECA3FE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CF79FA-64D7-FD7C-38C5-66A4B392E22F}"/>
              </a:ext>
            </a:extLst>
          </p:cNvPr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kern="0" spc="200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EDSB 2026 – 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Projeto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Telco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Churn</a:t>
            </a:r>
            <a:endParaRPr lang="pt-PT" sz="1100" noProof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2E572C-E576-F7AF-A3B3-E27A76E40690}"/>
              </a:ext>
            </a:extLst>
          </p:cNvPr>
          <p:cNvSpPr/>
          <p:nvPr/>
        </p:nvSpPr>
        <p:spPr>
          <a:xfrm>
            <a:off x="530352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200" b="1" noProof="0" dirty="0">
                <a:solidFill>
                  <a:srgbClr val="17271E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Fontes de dados: </a:t>
            </a:r>
            <a:r>
              <a:rPr lang="pt-PT" sz="3200" b="1" noProof="0" dirty="0">
                <a:solidFill>
                  <a:srgbClr val="3876FF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o que contêm e originam</a:t>
            </a:r>
            <a:endParaRPr lang="pt-PT" sz="3600" b="1" noProof="0" dirty="0">
              <a:solidFill>
                <a:srgbClr val="3876FF"/>
              </a:solidFill>
              <a:latin typeface="Borna" panose="020B0604020202020204" charset="0"/>
            </a:endParaRPr>
          </a:p>
        </p:txBody>
      </p:sp>
      <p:pic>
        <p:nvPicPr>
          <p:cNvPr id="20" name="Image 0" descr="assets/nova_dark.png">
            <a:extLst>
              <a:ext uri="{FF2B5EF4-FFF2-40B4-BE49-F238E27FC236}">
                <a16:creationId xmlns:a16="http://schemas.microsoft.com/office/drawing/2014/main" id="{92566E40-0264-41F5-FC86-AE15AAC37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91072"/>
            <a:ext cx="1371600" cy="184121"/>
          </a:xfrm>
          <a:prstGeom prst="rect">
            <a:avLst/>
          </a:prstGeom>
        </p:spPr>
      </p:pic>
      <p:sp>
        <p:nvSpPr>
          <p:cNvPr id="22" name="Text 19">
            <a:extLst>
              <a:ext uri="{FF2B5EF4-FFF2-40B4-BE49-F238E27FC236}">
                <a16:creationId xmlns:a16="http://schemas.microsoft.com/office/drawing/2014/main" id="{6AC3DB0E-42A7-4BCA-1C69-90A89378CA4A}"/>
              </a:ext>
            </a:extLst>
          </p:cNvPr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900" b="1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pt-PT" sz="900" noProof="0" dirty="0">
              <a:latin typeface="Arial" panose="020B0604020202020204" pitchFamily="34" charset="0"/>
            </a:endParaRPr>
          </a:p>
        </p:txBody>
      </p:sp>
      <p:sp>
        <p:nvSpPr>
          <p:cNvPr id="23" name="Table header 81"/>
          <p:cNvSpPr/>
          <p:nvPr/>
        </p:nvSpPr>
        <p:spPr>
          <a:xfrm>
            <a:off x="548640" y="1783080"/>
            <a:ext cx="11091672" cy="365760"/>
          </a:xfrm>
          <a:prstGeom prst="roundRect">
            <a:avLst>
              <a:gd name="adj" fmla="val 12000"/>
            </a:avLst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800" noProof="0" dirty="0"/>
          </a:p>
        </p:txBody>
      </p:sp>
      <p:sp>
        <p:nvSpPr>
          <p:cNvPr id="24" name="Header 82"/>
          <p:cNvSpPr txBox="1"/>
          <p:nvPr/>
        </p:nvSpPr>
        <p:spPr>
          <a:xfrm>
            <a:off x="685800" y="1858238"/>
            <a:ext cx="12344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FFFFFF"/>
                </a:solidFill>
                <a:latin typeface="Arial"/>
              </a:rPr>
              <a:t>Fonte</a:t>
            </a:r>
          </a:p>
        </p:txBody>
      </p:sp>
      <p:sp>
        <p:nvSpPr>
          <p:cNvPr id="25" name="Header 83"/>
          <p:cNvSpPr txBox="1"/>
          <p:nvPr/>
        </p:nvSpPr>
        <p:spPr>
          <a:xfrm>
            <a:off x="2400840" y="1858238"/>
            <a:ext cx="14173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FFFFFF"/>
                </a:solidFill>
                <a:latin typeface="Arial"/>
              </a:rPr>
              <a:t>Grão · volume</a:t>
            </a:r>
          </a:p>
        </p:txBody>
      </p:sp>
      <p:sp>
        <p:nvSpPr>
          <p:cNvPr id="26" name="Header 84"/>
          <p:cNvSpPr txBox="1"/>
          <p:nvPr/>
        </p:nvSpPr>
        <p:spPr>
          <a:xfrm>
            <a:off x="4041648" y="1866379"/>
            <a:ext cx="31363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FFFFFF"/>
                </a:solidFill>
                <a:latin typeface="Arial"/>
              </a:rPr>
              <a:t>O que contém</a:t>
            </a:r>
          </a:p>
        </p:txBody>
      </p:sp>
      <p:sp>
        <p:nvSpPr>
          <p:cNvPr id="27" name="Header 85"/>
          <p:cNvSpPr txBox="1"/>
          <p:nvPr/>
        </p:nvSpPr>
        <p:spPr>
          <a:xfrm>
            <a:off x="7360920" y="1858238"/>
            <a:ext cx="914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FFFFFF"/>
                </a:solidFill>
                <a:latin typeface="Arial"/>
              </a:rPr>
              <a:t>Chave</a:t>
            </a:r>
          </a:p>
        </p:txBody>
      </p:sp>
      <p:sp>
        <p:nvSpPr>
          <p:cNvPr id="28" name="Header 86"/>
          <p:cNvSpPr txBox="1"/>
          <p:nvPr/>
        </p:nvSpPr>
        <p:spPr>
          <a:xfrm>
            <a:off x="8458200" y="1858238"/>
            <a:ext cx="3136391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FFFFFF"/>
                </a:solidFill>
                <a:latin typeface="Arial"/>
              </a:rPr>
              <a:t>Dá origem a</a:t>
            </a:r>
          </a:p>
        </p:txBody>
      </p:sp>
      <p:sp>
        <p:nvSpPr>
          <p:cNvPr id="29" name="Row 87"/>
          <p:cNvSpPr/>
          <p:nvPr/>
        </p:nvSpPr>
        <p:spPr>
          <a:xfrm>
            <a:off x="548640" y="2212848"/>
            <a:ext cx="11091672" cy="475488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 w="6350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30" name="Cell 88"/>
          <p:cNvSpPr txBox="1"/>
          <p:nvPr/>
        </p:nvSpPr>
        <p:spPr>
          <a:xfrm>
            <a:off x="685800" y="2342869"/>
            <a:ext cx="144583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 err="1">
                <a:solidFill>
                  <a:srgbClr val="3777FF"/>
                </a:solidFill>
                <a:latin typeface="Arial"/>
              </a:rPr>
              <a:t>Demographics</a:t>
            </a:r>
            <a:endParaRPr lang="pt-PT" sz="1400" b="1" i="0" noProof="0" dirty="0">
              <a:solidFill>
                <a:srgbClr val="3777FF"/>
              </a:solidFill>
              <a:latin typeface="Arial"/>
            </a:endParaRPr>
          </a:p>
        </p:txBody>
      </p:sp>
      <p:sp>
        <p:nvSpPr>
          <p:cNvPr id="31" name="Cell 89"/>
          <p:cNvSpPr txBox="1"/>
          <p:nvPr/>
        </p:nvSpPr>
        <p:spPr>
          <a:xfrm>
            <a:off x="2400840" y="2365953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7.043 clientes × 9</a:t>
            </a:r>
          </a:p>
        </p:txBody>
      </p:sp>
      <p:sp>
        <p:nvSpPr>
          <p:cNvPr id="32" name="Cell 90"/>
          <p:cNvSpPr txBox="1"/>
          <p:nvPr/>
        </p:nvSpPr>
        <p:spPr>
          <a:xfrm>
            <a:off x="4041648" y="2334118"/>
            <a:ext cx="30906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Género, idade, estado civil e dependentes</a:t>
            </a:r>
          </a:p>
        </p:txBody>
      </p:sp>
      <p:sp>
        <p:nvSpPr>
          <p:cNvPr id="33" name="Cell 91"/>
          <p:cNvSpPr txBox="1"/>
          <p:nvPr/>
        </p:nvSpPr>
        <p:spPr>
          <a:xfrm>
            <a:off x="7360920" y="2369800"/>
            <a:ext cx="868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 err="1">
                <a:solidFill>
                  <a:srgbClr val="5F6368"/>
                </a:solidFill>
                <a:latin typeface="Arial"/>
              </a:rPr>
              <a:t>Customer</a:t>
            </a:r>
            <a:r>
              <a:rPr lang="pt-PT" sz="1050" b="0" i="0" noProof="0" dirty="0">
                <a:solidFill>
                  <a:srgbClr val="5F6368"/>
                </a:solidFill>
                <a:latin typeface="Arial"/>
              </a:rPr>
              <a:t> ID</a:t>
            </a:r>
          </a:p>
        </p:txBody>
      </p:sp>
      <p:sp>
        <p:nvSpPr>
          <p:cNvPr id="34" name="Cell 92"/>
          <p:cNvSpPr txBox="1"/>
          <p:nvPr/>
        </p:nvSpPr>
        <p:spPr>
          <a:xfrm>
            <a:off x="8458200" y="2281315"/>
            <a:ext cx="30906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00A847"/>
                </a:solidFill>
                <a:latin typeface="Arial"/>
              </a:rPr>
              <a:t>4 </a:t>
            </a:r>
            <a:r>
              <a:rPr lang="pt-PT" sz="1200" b="1" i="0" noProof="0" dirty="0" err="1">
                <a:solidFill>
                  <a:srgbClr val="00A847"/>
                </a:solidFill>
                <a:latin typeface="Arial"/>
              </a:rPr>
              <a:t>features</a:t>
            </a:r>
            <a:endParaRPr lang="pt-PT" sz="1200" b="1" i="0" noProof="0" dirty="0">
              <a:solidFill>
                <a:srgbClr val="00A847"/>
              </a:solidFill>
              <a:latin typeface="Arial"/>
            </a:endParaRPr>
          </a:p>
          <a:p>
            <a:pPr algn="l"/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Gender, Age, </a:t>
            </a:r>
            <a:r>
              <a:rPr lang="pt-PT" sz="1000" b="0" i="0" noProof="0" dirty="0" err="1">
                <a:solidFill>
                  <a:srgbClr val="5F6368"/>
                </a:solidFill>
                <a:latin typeface="Arial"/>
              </a:rPr>
              <a:t>Married</a:t>
            </a:r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, Nº </a:t>
            </a:r>
            <a:r>
              <a:rPr lang="pt-PT" sz="1000" b="0" i="0" noProof="0" dirty="0" err="1">
                <a:solidFill>
                  <a:srgbClr val="5F6368"/>
                </a:solidFill>
                <a:latin typeface="Arial"/>
              </a:rPr>
              <a:t>Dependents</a:t>
            </a:r>
            <a:endParaRPr lang="pt-PT" sz="1000" b="0" i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35" name="Row 93"/>
          <p:cNvSpPr/>
          <p:nvPr/>
        </p:nvSpPr>
        <p:spPr>
          <a:xfrm>
            <a:off x="548640" y="2734056"/>
            <a:ext cx="110916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36" name="Cell 94"/>
          <p:cNvSpPr txBox="1"/>
          <p:nvPr/>
        </p:nvSpPr>
        <p:spPr>
          <a:xfrm>
            <a:off x="685800" y="2864078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 err="1">
                <a:solidFill>
                  <a:srgbClr val="3777FF"/>
                </a:solidFill>
                <a:latin typeface="Arial"/>
              </a:rPr>
              <a:t>Location</a:t>
            </a:r>
            <a:endParaRPr lang="pt-PT" sz="1400" b="1" i="0" noProof="0" dirty="0">
              <a:solidFill>
                <a:srgbClr val="3777FF"/>
              </a:solidFill>
              <a:latin typeface="Arial"/>
            </a:endParaRPr>
          </a:p>
        </p:txBody>
      </p:sp>
      <p:sp>
        <p:nvSpPr>
          <p:cNvPr id="37" name="Cell 95"/>
          <p:cNvSpPr txBox="1"/>
          <p:nvPr/>
        </p:nvSpPr>
        <p:spPr>
          <a:xfrm>
            <a:off x="2400840" y="2887161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7.043 clientes × 9</a:t>
            </a:r>
          </a:p>
        </p:txBody>
      </p:sp>
      <p:sp>
        <p:nvSpPr>
          <p:cNvPr id="38" name="Cell 96"/>
          <p:cNvSpPr txBox="1"/>
          <p:nvPr/>
        </p:nvSpPr>
        <p:spPr>
          <a:xfrm>
            <a:off x="4041648" y="2855326"/>
            <a:ext cx="30906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País, estado, cidade, ZIP e coordenadas</a:t>
            </a:r>
          </a:p>
        </p:txBody>
      </p:sp>
      <p:sp>
        <p:nvSpPr>
          <p:cNvPr id="39" name="Cell 97"/>
          <p:cNvSpPr txBox="1"/>
          <p:nvPr/>
        </p:nvSpPr>
        <p:spPr>
          <a:xfrm>
            <a:off x="7360920" y="2891008"/>
            <a:ext cx="868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 err="1">
                <a:solidFill>
                  <a:srgbClr val="5F6368"/>
                </a:solidFill>
                <a:latin typeface="Arial"/>
              </a:rPr>
              <a:t>Customer</a:t>
            </a:r>
            <a:r>
              <a:rPr lang="pt-PT" sz="1050" b="0" i="0" noProof="0" dirty="0">
                <a:solidFill>
                  <a:srgbClr val="5F6368"/>
                </a:solidFill>
                <a:latin typeface="Arial"/>
              </a:rPr>
              <a:t> ID</a:t>
            </a:r>
          </a:p>
        </p:txBody>
      </p:sp>
      <p:sp>
        <p:nvSpPr>
          <p:cNvPr id="40" name="Cell 98"/>
          <p:cNvSpPr txBox="1"/>
          <p:nvPr/>
        </p:nvSpPr>
        <p:spPr>
          <a:xfrm>
            <a:off x="8458200" y="2802523"/>
            <a:ext cx="30906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00A847"/>
                </a:solidFill>
                <a:latin typeface="Arial"/>
              </a:rPr>
              <a:t>2 </a:t>
            </a:r>
            <a:r>
              <a:rPr lang="pt-PT" sz="1200" b="1" i="0" noProof="0" dirty="0" err="1">
                <a:solidFill>
                  <a:srgbClr val="00A847"/>
                </a:solidFill>
                <a:latin typeface="Arial"/>
              </a:rPr>
              <a:t>features</a:t>
            </a:r>
            <a:endParaRPr lang="pt-PT" sz="1200" b="1" i="0" noProof="0" dirty="0">
              <a:solidFill>
                <a:srgbClr val="00A847"/>
              </a:solidFill>
              <a:latin typeface="Arial"/>
            </a:endParaRPr>
          </a:p>
          <a:p>
            <a:pPr algn="l"/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Latitude, Longitude · ZIP só para unir</a:t>
            </a:r>
          </a:p>
        </p:txBody>
      </p:sp>
      <p:sp>
        <p:nvSpPr>
          <p:cNvPr id="41" name="Row 99"/>
          <p:cNvSpPr/>
          <p:nvPr/>
        </p:nvSpPr>
        <p:spPr>
          <a:xfrm>
            <a:off x="548640" y="3255264"/>
            <a:ext cx="11091672" cy="475488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 w="6350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42" name="Cell 100"/>
          <p:cNvSpPr txBox="1"/>
          <p:nvPr/>
        </p:nvSpPr>
        <p:spPr>
          <a:xfrm>
            <a:off x="685800" y="3385286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 err="1">
                <a:solidFill>
                  <a:srgbClr val="3777FF"/>
                </a:solidFill>
                <a:latin typeface="Arial"/>
              </a:rPr>
              <a:t>Population</a:t>
            </a:r>
            <a:endParaRPr lang="pt-PT" sz="1400" b="1" i="0" noProof="0" dirty="0">
              <a:solidFill>
                <a:srgbClr val="3777FF"/>
              </a:solidFill>
              <a:latin typeface="Arial"/>
            </a:endParaRPr>
          </a:p>
        </p:txBody>
      </p:sp>
      <p:sp>
        <p:nvSpPr>
          <p:cNvPr id="43" name="Cell 101"/>
          <p:cNvSpPr txBox="1"/>
          <p:nvPr/>
        </p:nvSpPr>
        <p:spPr>
          <a:xfrm>
            <a:off x="2400840" y="3408369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1.671 ZIP × 3</a:t>
            </a:r>
          </a:p>
        </p:txBody>
      </p:sp>
      <p:sp>
        <p:nvSpPr>
          <p:cNvPr id="44" name="Cell 102"/>
          <p:cNvSpPr txBox="1"/>
          <p:nvPr/>
        </p:nvSpPr>
        <p:spPr>
          <a:xfrm>
            <a:off x="4041648" y="3376534"/>
            <a:ext cx="30906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População estimada por ZIP </a:t>
            </a:r>
            <a:r>
              <a:rPr lang="pt-PT" sz="1100" b="0" i="0" noProof="0" dirty="0" err="1">
                <a:solidFill>
                  <a:srgbClr val="17271E"/>
                </a:solidFill>
                <a:latin typeface="Arial"/>
              </a:rPr>
              <a:t>code</a:t>
            </a:r>
            <a:endParaRPr lang="pt-PT" sz="1100" b="0" i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45" name="Cell 103"/>
          <p:cNvSpPr txBox="1"/>
          <p:nvPr/>
        </p:nvSpPr>
        <p:spPr>
          <a:xfrm>
            <a:off x="7360920" y="3412216"/>
            <a:ext cx="868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>
                <a:solidFill>
                  <a:srgbClr val="5F6368"/>
                </a:solidFill>
                <a:latin typeface="Arial"/>
              </a:rPr>
              <a:t>Zip </a:t>
            </a:r>
            <a:r>
              <a:rPr lang="pt-PT" sz="1050" b="0" i="0" noProof="0" dirty="0" err="1">
                <a:solidFill>
                  <a:srgbClr val="5F6368"/>
                </a:solidFill>
                <a:latin typeface="Arial"/>
              </a:rPr>
              <a:t>Code</a:t>
            </a:r>
            <a:endParaRPr lang="pt-PT" sz="1050" b="0" i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46" name="Cell 104"/>
          <p:cNvSpPr txBox="1"/>
          <p:nvPr/>
        </p:nvSpPr>
        <p:spPr>
          <a:xfrm>
            <a:off x="8458200" y="3323731"/>
            <a:ext cx="30906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00A847"/>
                </a:solidFill>
                <a:latin typeface="Arial"/>
              </a:rPr>
              <a:t>1 </a:t>
            </a:r>
            <a:r>
              <a:rPr lang="pt-PT" sz="1200" b="1" i="0" noProof="0" dirty="0" err="1">
                <a:solidFill>
                  <a:srgbClr val="00A847"/>
                </a:solidFill>
                <a:latin typeface="Arial"/>
              </a:rPr>
              <a:t>feature</a:t>
            </a:r>
            <a:endParaRPr lang="pt-PT" sz="1200" b="1" i="0" noProof="0" dirty="0">
              <a:solidFill>
                <a:srgbClr val="00A847"/>
              </a:solidFill>
              <a:latin typeface="Arial"/>
            </a:endParaRPr>
          </a:p>
          <a:p>
            <a:pPr algn="l"/>
            <a:r>
              <a:rPr lang="pt-PT" sz="1000" b="0" i="0" noProof="0" dirty="0" err="1">
                <a:solidFill>
                  <a:srgbClr val="5F6368"/>
                </a:solidFill>
                <a:latin typeface="Arial"/>
              </a:rPr>
              <a:t>Population</a:t>
            </a:r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 (N:1 por ZIP)</a:t>
            </a:r>
          </a:p>
        </p:txBody>
      </p:sp>
      <p:sp>
        <p:nvSpPr>
          <p:cNvPr id="47" name="Row 105"/>
          <p:cNvSpPr/>
          <p:nvPr/>
        </p:nvSpPr>
        <p:spPr>
          <a:xfrm>
            <a:off x="548640" y="3776472"/>
            <a:ext cx="110916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48" name="Cell 106"/>
          <p:cNvSpPr txBox="1"/>
          <p:nvPr/>
        </p:nvSpPr>
        <p:spPr>
          <a:xfrm>
            <a:off x="685800" y="3906494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 err="1">
                <a:solidFill>
                  <a:srgbClr val="3777FF"/>
                </a:solidFill>
                <a:latin typeface="Arial"/>
              </a:rPr>
              <a:t>Services</a:t>
            </a:r>
            <a:endParaRPr lang="pt-PT" sz="1400" b="1" i="0" noProof="0" dirty="0">
              <a:solidFill>
                <a:srgbClr val="3777FF"/>
              </a:solidFill>
              <a:latin typeface="Arial"/>
            </a:endParaRPr>
          </a:p>
        </p:txBody>
      </p:sp>
      <p:sp>
        <p:nvSpPr>
          <p:cNvPr id="49" name="Cell 107"/>
          <p:cNvSpPr txBox="1"/>
          <p:nvPr/>
        </p:nvSpPr>
        <p:spPr>
          <a:xfrm>
            <a:off x="2400840" y="3929577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7.043 clientes × 30</a:t>
            </a:r>
          </a:p>
        </p:txBody>
      </p:sp>
      <p:sp>
        <p:nvSpPr>
          <p:cNvPr id="50" name="Cell 108"/>
          <p:cNvSpPr txBox="1"/>
          <p:nvPr/>
        </p:nvSpPr>
        <p:spPr>
          <a:xfrm>
            <a:off x="4041648" y="3781268"/>
            <a:ext cx="30906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Antiguidade, referências, oferta, serviços, contrato, faturação e encargos</a:t>
            </a:r>
          </a:p>
        </p:txBody>
      </p:sp>
      <p:sp>
        <p:nvSpPr>
          <p:cNvPr id="51" name="Cell 109"/>
          <p:cNvSpPr txBox="1"/>
          <p:nvPr/>
        </p:nvSpPr>
        <p:spPr>
          <a:xfrm>
            <a:off x="7360920" y="3933424"/>
            <a:ext cx="868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 err="1">
                <a:solidFill>
                  <a:srgbClr val="5F6368"/>
                </a:solidFill>
                <a:latin typeface="Arial"/>
              </a:rPr>
              <a:t>Customer</a:t>
            </a:r>
            <a:r>
              <a:rPr lang="pt-PT" sz="1050" b="0" i="0" noProof="0" dirty="0">
                <a:solidFill>
                  <a:srgbClr val="5F6368"/>
                </a:solidFill>
                <a:latin typeface="Arial"/>
              </a:rPr>
              <a:t> ID</a:t>
            </a:r>
          </a:p>
        </p:txBody>
      </p:sp>
      <p:sp>
        <p:nvSpPr>
          <p:cNvPr id="52" name="Cell 110"/>
          <p:cNvSpPr txBox="1"/>
          <p:nvPr/>
        </p:nvSpPr>
        <p:spPr>
          <a:xfrm>
            <a:off x="8458200" y="3844938"/>
            <a:ext cx="30906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00A847"/>
                </a:solidFill>
                <a:latin typeface="Arial"/>
              </a:rPr>
              <a:t>25 </a:t>
            </a:r>
            <a:r>
              <a:rPr lang="pt-PT" sz="1200" b="1" i="0" noProof="0" dirty="0" err="1">
                <a:solidFill>
                  <a:srgbClr val="00A847"/>
                </a:solidFill>
                <a:latin typeface="Arial"/>
              </a:rPr>
              <a:t>features</a:t>
            </a:r>
            <a:endParaRPr lang="pt-PT" sz="1200" b="1" i="0" noProof="0" dirty="0">
              <a:solidFill>
                <a:srgbClr val="00A847"/>
              </a:solidFill>
              <a:latin typeface="Arial"/>
            </a:endParaRPr>
          </a:p>
          <a:p>
            <a:pPr algn="l"/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9 numéricas + 16 categóricas</a:t>
            </a:r>
          </a:p>
        </p:txBody>
      </p:sp>
      <p:sp>
        <p:nvSpPr>
          <p:cNvPr id="53" name="Row 111"/>
          <p:cNvSpPr/>
          <p:nvPr/>
        </p:nvSpPr>
        <p:spPr>
          <a:xfrm>
            <a:off x="548640" y="4297680"/>
            <a:ext cx="11091672" cy="475488"/>
          </a:xfrm>
          <a:prstGeom prst="roundRect">
            <a:avLst>
              <a:gd name="adj" fmla="val 12000"/>
            </a:avLst>
          </a:prstGeom>
          <a:solidFill>
            <a:srgbClr val="EEF3FF"/>
          </a:solidFill>
          <a:ln w="6350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54" name="Cell 112"/>
          <p:cNvSpPr txBox="1"/>
          <p:nvPr/>
        </p:nvSpPr>
        <p:spPr>
          <a:xfrm>
            <a:off x="685800" y="4427702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3777FF"/>
                </a:solidFill>
                <a:latin typeface="Arial"/>
              </a:rPr>
              <a:t>Status</a:t>
            </a:r>
          </a:p>
        </p:txBody>
      </p:sp>
      <p:sp>
        <p:nvSpPr>
          <p:cNvPr id="55" name="Cell 113"/>
          <p:cNvSpPr txBox="1"/>
          <p:nvPr/>
        </p:nvSpPr>
        <p:spPr>
          <a:xfrm>
            <a:off x="2400840" y="4450785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7.043 clientes × 11</a:t>
            </a:r>
          </a:p>
        </p:txBody>
      </p:sp>
      <p:sp>
        <p:nvSpPr>
          <p:cNvPr id="56" name="Cell 114"/>
          <p:cNvSpPr txBox="1"/>
          <p:nvPr/>
        </p:nvSpPr>
        <p:spPr>
          <a:xfrm>
            <a:off x="4041648" y="4302476"/>
            <a:ext cx="30906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Satisfação, estado do cliente, </a:t>
            </a:r>
            <a:r>
              <a:rPr lang="pt-PT" sz="1100" b="0" i="0" noProof="0" dirty="0" err="1">
                <a:solidFill>
                  <a:srgbClr val="17271E"/>
                </a:solidFill>
                <a:latin typeface="Arial"/>
              </a:rPr>
              <a:t>churn</a:t>
            </a:r>
            <a:r>
              <a:rPr lang="pt-PT" sz="1100" b="0" i="0" noProof="0" dirty="0">
                <a:solidFill>
                  <a:srgbClr val="17271E"/>
                </a:solidFill>
                <a:latin typeface="Arial"/>
              </a:rPr>
              <a:t> score IBM, CLTV e motivos de saída</a:t>
            </a:r>
          </a:p>
        </p:txBody>
      </p:sp>
      <p:sp>
        <p:nvSpPr>
          <p:cNvPr id="57" name="Cell 115"/>
          <p:cNvSpPr txBox="1"/>
          <p:nvPr/>
        </p:nvSpPr>
        <p:spPr>
          <a:xfrm>
            <a:off x="7360920" y="4454632"/>
            <a:ext cx="868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 err="1">
                <a:solidFill>
                  <a:srgbClr val="5F6368"/>
                </a:solidFill>
                <a:latin typeface="Arial"/>
              </a:rPr>
              <a:t>Customer</a:t>
            </a:r>
            <a:r>
              <a:rPr lang="pt-PT" sz="1050" b="0" i="0" noProof="0" dirty="0">
                <a:solidFill>
                  <a:srgbClr val="5F6368"/>
                </a:solidFill>
                <a:latin typeface="Arial"/>
              </a:rPr>
              <a:t> ID</a:t>
            </a:r>
          </a:p>
        </p:txBody>
      </p:sp>
      <p:sp>
        <p:nvSpPr>
          <p:cNvPr id="58" name="Cell 116"/>
          <p:cNvSpPr txBox="1"/>
          <p:nvPr/>
        </p:nvSpPr>
        <p:spPr>
          <a:xfrm>
            <a:off x="8458200" y="4366147"/>
            <a:ext cx="30906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1" i="0" noProof="0" dirty="0">
                <a:solidFill>
                  <a:srgbClr val="00A847"/>
                </a:solidFill>
                <a:latin typeface="Arial"/>
              </a:rPr>
              <a:t>Target + negócio</a:t>
            </a:r>
          </a:p>
          <a:p>
            <a:pPr algn="l"/>
            <a:r>
              <a:rPr lang="pt-PT" sz="1000" b="0" i="0" noProof="0" dirty="0" err="1">
                <a:solidFill>
                  <a:srgbClr val="5F6368"/>
                </a:solidFill>
                <a:latin typeface="Arial"/>
              </a:rPr>
              <a:t>churn</a:t>
            </a:r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 · </a:t>
            </a:r>
            <a:r>
              <a:rPr lang="pt-PT" sz="1000" b="0" i="0" noProof="0" dirty="0" err="1">
                <a:solidFill>
                  <a:srgbClr val="5F6368"/>
                </a:solidFill>
                <a:latin typeface="Arial"/>
              </a:rPr>
              <a:t>Churn</a:t>
            </a:r>
            <a:r>
              <a:rPr lang="pt-PT" sz="1000" b="0" i="0" noProof="0" dirty="0">
                <a:solidFill>
                  <a:srgbClr val="5F6368"/>
                </a:solidFill>
                <a:latin typeface="Arial"/>
              </a:rPr>
              <a:t> Score · CLTV · </a:t>
            </a:r>
            <a:r>
              <a:rPr lang="pt-PT" sz="1000" b="0" i="0" noProof="0" dirty="0" err="1">
                <a:solidFill>
                  <a:srgbClr val="5F6368"/>
                </a:solidFill>
                <a:latin typeface="Arial"/>
              </a:rPr>
              <a:t>Satisfaction</a:t>
            </a:r>
            <a:endParaRPr lang="pt-PT" sz="1000" b="0" i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59" name="Flow 117"/>
          <p:cNvSpPr/>
          <p:nvPr/>
        </p:nvSpPr>
        <p:spPr>
          <a:xfrm>
            <a:off x="548640" y="5001768"/>
            <a:ext cx="2514600" cy="64008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60" name="Flow value 118"/>
          <p:cNvSpPr txBox="1"/>
          <p:nvPr/>
        </p:nvSpPr>
        <p:spPr>
          <a:xfrm>
            <a:off x="713232" y="5075586"/>
            <a:ext cx="8686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3200" b="1" i="0" noProof="0" dirty="0">
                <a:solidFill>
                  <a:srgbClr val="3777FF"/>
                </a:solidFill>
                <a:latin typeface="Arial"/>
              </a:rPr>
              <a:t>62</a:t>
            </a:r>
          </a:p>
        </p:txBody>
      </p:sp>
      <p:sp>
        <p:nvSpPr>
          <p:cNvPr id="61" name="Flow caption 119"/>
          <p:cNvSpPr txBox="1"/>
          <p:nvPr/>
        </p:nvSpPr>
        <p:spPr>
          <a:xfrm>
            <a:off x="1554480" y="5137142"/>
            <a:ext cx="1417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colunas nos 5 ficheiros</a:t>
            </a:r>
          </a:p>
        </p:txBody>
      </p:sp>
      <p:sp>
        <p:nvSpPr>
          <p:cNvPr id="62" name="Arrow 120"/>
          <p:cNvSpPr/>
          <p:nvPr/>
        </p:nvSpPr>
        <p:spPr>
          <a:xfrm rot="5400000">
            <a:off x="3172968" y="5248656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400" noProof="0" dirty="0"/>
          </a:p>
        </p:txBody>
      </p:sp>
      <p:sp>
        <p:nvSpPr>
          <p:cNvPr id="63" name="Flow 121"/>
          <p:cNvSpPr/>
          <p:nvPr/>
        </p:nvSpPr>
        <p:spPr>
          <a:xfrm>
            <a:off x="3410712" y="5001768"/>
            <a:ext cx="2514600" cy="64008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64" name="Flow value 122"/>
          <p:cNvSpPr txBox="1"/>
          <p:nvPr/>
        </p:nvSpPr>
        <p:spPr>
          <a:xfrm>
            <a:off x="3575304" y="5075586"/>
            <a:ext cx="8686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3200" b="1" i="0" noProof="0" dirty="0">
                <a:solidFill>
                  <a:srgbClr val="3777FF"/>
                </a:solidFill>
                <a:latin typeface="Arial"/>
              </a:rPr>
              <a:t>51</a:t>
            </a:r>
          </a:p>
        </p:txBody>
      </p:sp>
      <p:sp>
        <p:nvSpPr>
          <p:cNvPr id="65" name="Flow caption 123"/>
          <p:cNvSpPr txBox="1"/>
          <p:nvPr/>
        </p:nvSpPr>
        <p:spPr>
          <a:xfrm>
            <a:off x="4416552" y="5137142"/>
            <a:ext cx="1417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após união (1 linha por cliente)</a:t>
            </a:r>
          </a:p>
        </p:txBody>
      </p:sp>
      <p:sp>
        <p:nvSpPr>
          <p:cNvPr id="66" name="Arrow 124"/>
          <p:cNvSpPr/>
          <p:nvPr/>
        </p:nvSpPr>
        <p:spPr>
          <a:xfrm rot="5400000">
            <a:off x="6035040" y="5248656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400" noProof="0" dirty="0"/>
          </a:p>
        </p:txBody>
      </p:sp>
      <p:sp>
        <p:nvSpPr>
          <p:cNvPr id="67" name="Flow 125"/>
          <p:cNvSpPr/>
          <p:nvPr/>
        </p:nvSpPr>
        <p:spPr>
          <a:xfrm>
            <a:off x="6272783" y="5001768"/>
            <a:ext cx="2514600" cy="640080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68" name="Flow value 126"/>
          <p:cNvSpPr txBox="1"/>
          <p:nvPr/>
        </p:nvSpPr>
        <p:spPr>
          <a:xfrm>
            <a:off x="6437375" y="5075586"/>
            <a:ext cx="8686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3200" b="1" i="0" noProof="0" dirty="0">
                <a:solidFill>
                  <a:srgbClr val="3777FF"/>
                </a:solidFill>
                <a:latin typeface="Arial"/>
              </a:rPr>
              <a:t>41</a:t>
            </a:r>
          </a:p>
        </p:txBody>
      </p:sp>
      <p:sp>
        <p:nvSpPr>
          <p:cNvPr id="69" name="Flow caption 127"/>
          <p:cNvSpPr txBox="1"/>
          <p:nvPr/>
        </p:nvSpPr>
        <p:spPr>
          <a:xfrm>
            <a:off x="7278623" y="5137142"/>
            <a:ext cx="1417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no </a:t>
            </a:r>
            <a:r>
              <a:rPr lang="pt-PT" sz="1200" b="0" i="0" noProof="0" dirty="0" err="1">
                <a:solidFill>
                  <a:srgbClr val="17271E"/>
                </a:solidFill>
                <a:latin typeface="Arial"/>
              </a:rPr>
              <a:t>dataset</a:t>
            </a:r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 final (36 </a:t>
            </a:r>
            <a:r>
              <a:rPr lang="pt-PT" sz="1200" b="0" i="0" noProof="0" dirty="0" err="1">
                <a:solidFill>
                  <a:srgbClr val="17271E"/>
                </a:solidFill>
                <a:latin typeface="Arial"/>
              </a:rPr>
              <a:t>features</a:t>
            </a:r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)</a:t>
            </a:r>
          </a:p>
        </p:txBody>
      </p:sp>
      <p:sp>
        <p:nvSpPr>
          <p:cNvPr id="70" name="Arrow 128"/>
          <p:cNvSpPr/>
          <p:nvPr/>
        </p:nvSpPr>
        <p:spPr>
          <a:xfrm rot="5400000">
            <a:off x="8897111" y="5248656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400" noProof="0" dirty="0"/>
          </a:p>
        </p:txBody>
      </p:sp>
      <p:sp>
        <p:nvSpPr>
          <p:cNvPr id="71" name="Flow 129"/>
          <p:cNvSpPr/>
          <p:nvPr/>
        </p:nvSpPr>
        <p:spPr>
          <a:xfrm>
            <a:off x="9134856" y="5001768"/>
            <a:ext cx="2514600" cy="640080"/>
          </a:xfrm>
          <a:prstGeom prst="roundRect">
            <a:avLst>
              <a:gd name="adj" fmla="val 15000"/>
            </a:avLst>
          </a:prstGeom>
          <a:solidFill>
            <a:srgbClr val="0EE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72" name="Flow value 130"/>
          <p:cNvSpPr txBox="1"/>
          <p:nvPr/>
        </p:nvSpPr>
        <p:spPr>
          <a:xfrm>
            <a:off x="9299448" y="5075586"/>
            <a:ext cx="8686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3200" b="1" i="0" noProof="0" dirty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73" name="Flow caption 131"/>
          <p:cNvSpPr txBox="1"/>
          <p:nvPr/>
        </p:nvSpPr>
        <p:spPr>
          <a:xfrm>
            <a:off x="10140696" y="5137142"/>
            <a:ext cx="14173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 err="1">
                <a:solidFill>
                  <a:srgbClr val="000000"/>
                </a:solidFill>
                <a:latin typeface="Arial"/>
              </a:rPr>
              <a:t>features</a:t>
            </a:r>
            <a:r>
              <a:rPr lang="pt-PT" sz="1200" b="0" i="0" noProof="0" dirty="0">
                <a:solidFill>
                  <a:srgbClr val="000000"/>
                </a:solidFill>
                <a:latin typeface="Arial"/>
              </a:rPr>
              <a:t> após </a:t>
            </a:r>
            <a:r>
              <a:rPr lang="pt-PT" sz="1200" b="0" i="0" noProof="0" dirty="0" err="1">
                <a:solidFill>
                  <a:srgbClr val="000000"/>
                </a:solidFill>
                <a:latin typeface="Arial"/>
              </a:rPr>
              <a:t>one</a:t>
            </a:r>
            <a:r>
              <a:rPr lang="pt-PT" sz="1200" b="0" i="0" noProof="0" dirty="0">
                <a:solidFill>
                  <a:srgbClr val="000000"/>
                </a:solidFill>
                <a:latin typeface="Arial"/>
              </a:rPr>
              <a:t>-hot</a:t>
            </a:r>
          </a:p>
        </p:txBody>
      </p:sp>
      <p:sp>
        <p:nvSpPr>
          <p:cNvPr id="74" name="Source note 132"/>
          <p:cNvSpPr txBox="1"/>
          <p:nvPr/>
        </p:nvSpPr>
        <p:spPr>
          <a:xfrm>
            <a:off x="548640" y="5779008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União por </a:t>
            </a:r>
            <a:r>
              <a:rPr lang="pt-PT" sz="900" b="0" i="0" noProof="0" dirty="0" err="1">
                <a:solidFill>
                  <a:srgbClr val="5F6368"/>
                </a:solidFill>
                <a:latin typeface="Arial"/>
              </a:rPr>
              <a:t>Customer</a:t>
            </a:r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 ID (1:1, validado) e por Zip </a:t>
            </a:r>
            <a:r>
              <a:rPr lang="pt-PT" sz="900" b="0" i="0" noProof="0" dirty="0" err="1">
                <a:solidFill>
                  <a:srgbClr val="5F6368"/>
                </a:solidFill>
                <a:latin typeface="Arial"/>
              </a:rPr>
              <a:t>Code</a:t>
            </a:r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 (N:1, cobertura 100%). Modelação: 6.589 clientes </a:t>
            </a:r>
            <a:r>
              <a:rPr lang="pt-PT" sz="900" b="0" i="0" noProof="0" dirty="0" err="1">
                <a:solidFill>
                  <a:srgbClr val="5F6368"/>
                </a:solidFill>
                <a:latin typeface="Arial"/>
              </a:rPr>
              <a:t>Churned</a:t>
            </a:r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 + </a:t>
            </a:r>
            <a:r>
              <a:rPr lang="pt-PT" sz="900" b="0" i="0" noProof="0" dirty="0" err="1">
                <a:solidFill>
                  <a:srgbClr val="5F6368"/>
                </a:solidFill>
                <a:latin typeface="Arial"/>
              </a:rPr>
              <a:t>Stayed</a:t>
            </a:r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; 454 </a:t>
            </a:r>
            <a:r>
              <a:rPr lang="pt-PT" sz="900" b="0" i="0" noProof="0" dirty="0" err="1">
                <a:solidFill>
                  <a:srgbClr val="5F6368"/>
                </a:solidFill>
                <a:latin typeface="Arial"/>
              </a:rPr>
              <a:t>Joined</a:t>
            </a:r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 ficam para </a:t>
            </a:r>
            <a:r>
              <a:rPr lang="pt-PT" sz="900" b="0" i="0" noProof="0" dirty="0" err="1">
                <a:solidFill>
                  <a:srgbClr val="5F6368"/>
                </a:solidFill>
                <a:latin typeface="Arial"/>
              </a:rPr>
              <a:t>scoring</a:t>
            </a:r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9129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E141-A044-B452-6E33-CFECA3FE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CF79FA-64D7-FD7C-38C5-66A4B392E22F}"/>
              </a:ext>
            </a:extLst>
          </p:cNvPr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kern="0" spc="200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EDSB 2026 – 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Projeto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Telco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Churn</a:t>
            </a:r>
            <a:endParaRPr lang="pt-PT" sz="1100" noProof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2E572C-E576-F7AF-A3B3-E27A76E40690}"/>
              </a:ext>
            </a:extLst>
          </p:cNvPr>
          <p:cNvSpPr/>
          <p:nvPr/>
        </p:nvSpPr>
        <p:spPr>
          <a:xfrm>
            <a:off x="530352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200" b="1" noProof="0" dirty="0">
                <a:solidFill>
                  <a:srgbClr val="17271E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Catalogação: </a:t>
            </a:r>
            <a:r>
              <a:rPr lang="pt-PT" sz="3200" b="1" noProof="0" dirty="0">
                <a:solidFill>
                  <a:srgbClr val="3876FF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o papel de cada coluna</a:t>
            </a:r>
            <a:endParaRPr lang="pt-PT" sz="3600" b="1" noProof="0" dirty="0">
              <a:solidFill>
                <a:srgbClr val="3876FF"/>
              </a:solidFill>
              <a:latin typeface="Borna" panose="020B0604020202020204" charset="0"/>
            </a:endParaRPr>
          </a:p>
        </p:txBody>
      </p:sp>
      <p:pic>
        <p:nvPicPr>
          <p:cNvPr id="20" name="Image 0" descr="assets/nova_dark.png">
            <a:extLst>
              <a:ext uri="{FF2B5EF4-FFF2-40B4-BE49-F238E27FC236}">
                <a16:creationId xmlns:a16="http://schemas.microsoft.com/office/drawing/2014/main" id="{92566E40-0264-41F5-FC86-AE15AAC37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91072"/>
            <a:ext cx="1371600" cy="184121"/>
          </a:xfrm>
          <a:prstGeom prst="rect">
            <a:avLst/>
          </a:prstGeom>
        </p:spPr>
      </p:pic>
      <p:sp>
        <p:nvSpPr>
          <p:cNvPr id="22" name="Text 19">
            <a:extLst>
              <a:ext uri="{FF2B5EF4-FFF2-40B4-BE49-F238E27FC236}">
                <a16:creationId xmlns:a16="http://schemas.microsoft.com/office/drawing/2014/main" id="{6AC3DB0E-42A7-4BCA-1C69-90A89378CA4A}"/>
              </a:ext>
            </a:extLst>
          </p:cNvPr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900" b="1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pt-PT" sz="900" noProof="0" dirty="0">
              <a:latin typeface="Arial" panose="020B0604020202020204" pitchFamily="34" charset="0"/>
            </a:endParaRPr>
          </a:p>
        </p:txBody>
      </p:sp>
      <p:sp>
        <p:nvSpPr>
          <p:cNvPr id="23" name="Intro 133"/>
          <p:cNvSpPr txBox="1"/>
          <p:nvPr/>
        </p:nvSpPr>
        <p:spPr>
          <a:xfrm>
            <a:off x="548640" y="17373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As 51 colunas da base unida passam por uma triagem sequencial: a primeira pergunta com resposta «sim» define o papel.</a:t>
            </a:r>
          </a:p>
        </p:txBody>
      </p:sp>
      <p:sp>
        <p:nvSpPr>
          <p:cNvPr id="24" name="Step number 134"/>
          <p:cNvSpPr/>
          <p:nvPr/>
        </p:nvSpPr>
        <p:spPr>
          <a:xfrm>
            <a:off x="548640" y="2212848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1" noProof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Question 135"/>
          <p:cNvSpPr/>
          <p:nvPr/>
        </p:nvSpPr>
        <p:spPr>
          <a:xfrm>
            <a:off x="987552" y="2121408"/>
            <a:ext cx="3520440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26" name="Question text 136"/>
          <p:cNvSpPr txBox="1"/>
          <p:nvPr/>
        </p:nvSpPr>
        <p:spPr>
          <a:xfrm>
            <a:off x="1115568" y="2192774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Codifica o resultado ou só existe depois da saída?</a:t>
            </a:r>
          </a:p>
        </p:txBody>
      </p:sp>
      <p:sp>
        <p:nvSpPr>
          <p:cNvPr id="27" name="Arrow 137"/>
          <p:cNvSpPr/>
          <p:nvPr/>
        </p:nvSpPr>
        <p:spPr>
          <a:xfrm rot="5400000">
            <a:off x="4599432" y="2304287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28" name="Role 138"/>
          <p:cNvSpPr/>
          <p:nvPr/>
        </p:nvSpPr>
        <p:spPr>
          <a:xfrm>
            <a:off x="4846320" y="2121408"/>
            <a:ext cx="1965960" cy="512064"/>
          </a:xfrm>
          <a:prstGeom prst="roundRect">
            <a:avLst>
              <a:gd name="adj" fmla="val 15000"/>
            </a:avLst>
          </a:prstGeom>
          <a:solidFill>
            <a:srgbClr val="FDECEE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29" name="Role count 139"/>
          <p:cNvSpPr txBox="1"/>
          <p:nvPr/>
        </p:nvSpPr>
        <p:spPr>
          <a:xfrm>
            <a:off x="4956048" y="2192774"/>
            <a:ext cx="5669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2400" b="1" i="0" noProof="0" dirty="0">
                <a:solidFill>
                  <a:srgbClr val="D93025"/>
                </a:solidFill>
                <a:latin typeface="Arial"/>
              </a:rPr>
              <a:t>5</a:t>
            </a:r>
          </a:p>
        </p:txBody>
      </p:sp>
      <p:sp>
        <p:nvSpPr>
          <p:cNvPr id="30" name="Role name 140"/>
          <p:cNvSpPr txBox="1"/>
          <p:nvPr/>
        </p:nvSpPr>
        <p:spPr>
          <a:xfrm>
            <a:off x="5532120" y="2269718"/>
            <a:ext cx="12344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 err="1">
                <a:solidFill>
                  <a:srgbClr val="D93025"/>
                </a:solidFill>
                <a:latin typeface="Arial"/>
              </a:rPr>
              <a:t>Leakage</a:t>
            </a:r>
            <a:endParaRPr lang="pt-PT" sz="1400" b="1" i="0" noProof="0" dirty="0">
              <a:solidFill>
                <a:srgbClr val="D93025"/>
              </a:solidFill>
              <a:latin typeface="Arial"/>
            </a:endParaRPr>
          </a:p>
        </p:txBody>
      </p:sp>
      <p:sp>
        <p:nvSpPr>
          <p:cNvPr id="31" name="Examples 141"/>
          <p:cNvSpPr txBox="1"/>
          <p:nvPr/>
        </p:nvSpPr>
        <p:spPr>
          <a:xfrm>
            <a:off x="6967728" y="2215857"/>
            <a:ext cx="315468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Customer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Status,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Churn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Label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Churn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Value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Churn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Category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Churn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Reason</a:t>
            </a:r>
            <a:endParaRPr lang="pt-PT" sz="1050" b="0" i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32" name="Use 142"/>
          <p:cNvSpPr/>
          <p:nvPr/>
        </p:nvSpPr>
        <p:spPr>
          <a:xfrm>
            <a:off x="10195560" y="2212848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Excluídas</a:t>
            </a:r>
          </a:p>
        </p:txBody>
      </p:sp>
      <p:sp>
        <p:nvSpPr>
          <p:cNvPr id="33" name="Step number 143"/>
          <p:cNvSpPr/>
          <p:nvPr/>
        </p:nvSpPr>
        <p:spPr>
          <a:xfrm>
            <a:off x="548640" y="2798064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1" noProof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Question 144"/>
          <p:cNvSpPr/>
          <p:nvPr/>
        </p:nvSpPr>
        <p:spPr>
          <a:xfrm>
            <a:off x="987552" y="2706624"/>
            <a:ext cx="3520440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35" name="Question text 145"/>
          <p:cNvSpPr txBox="1"/>
          <p:nvPr/>
        </p:nvSpPr>
        <p:spPr>
          <a:xfrm>
            <a:off x="1115568" y="2777990"/>
            <a:ext cx="3291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É constante, duplicada ou derivação exata de outra?</a:t>
            </a:r>
          </a:p>
        </p:txBody>
      </p:sp>
      <p:sp>
        <p:nvSpPr>
          <p:cNvPr id="36" name="Arrow 146"/>
          <p:cNvSpPr/>
          <p:nvPr/>
        </p:nvSpPr>
        <p:spPr>
          <a:xfrm rot="5400000">
            <a:off x="4599432" y="2889504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37" name="Role 147"/>
          <p:cNvSpPr/>
          <p:nvPr/>
        </p:nvSpPr>
        <p:spPr>
          <a:xfrm>
            <a:off x="4846320" y="2706624"/>
            <a:ext cx="1965960" cy="512064"/>
          </a:xfrm>
          <a:prstGeom prst="roundRect">
            <a:avLst>
              <a:gd name="adj" fmla="val 15000"/>
            </a:avLst>
          </a:prstGeom>
          <a:solidFill>
            <a:srgbClr val="F4F5F6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38" name="Role count 148"/>
          <p:cNvSpPr txBox="1"/>
          <p:nvPr/>
        </p:nvSpPr>
        <p:spPr>
          <a:xfrm>
            <a:off x="4956048" y="2777990"/>
            <a:ext cx="5669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2400" b="1" i="0" noProof="0" dirty="0">
                <a:solidFill>
                  <a:srgbClr val="5F6368"/>
                </a:solidFill>
                <a:latin typeface="Arial"/>
              </a:rPr>
              <a:t>10</a:t>
            </a:r>
          </a:p>
        </p:txBody>
      </p:sp>
      <p:sp>
        <p:nvSpPr>
          <p:cNvPr id="39" name="Role name 149"/>
          <p:cNvSpPr txBox="1"/>
          <p:nvPr/>
        </p:nvSpPr>
        <p:spPr>
          <a:xfrm>
            <a:off x="5532120" y="2854934"/>
            <a:ext cx="12344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5F6368"/>
                </a:solidFill>
                <a:latin typeface="Arial"/>
              </a:rPr>
              <a:t>Redundante</a:t>
            </a:r>
          </a:p>
        </p:txBody>
      </p:sp>
      <p:sp>
        <p:nvSpPr>
          <p:cNvPr id="40" name="Examples 150"/>
          <p:cNvSpPr txBox="1"/>
          <p:nvPr/>
        </p:nvSpPr>
        <p:spPr>
          <a:xfrm>
            <a:off x="6967728" y="2720282"/>
            <a:ext cx="3154680" cy="484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Country,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State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Lat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Long,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Under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30,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Senior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Citizen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Dependents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Referred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a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Friend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, Total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Revenue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, Zip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Code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,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City</a:t>
            </a:r>
            <a:endParaRPr lang="pt-PT" sz="1050" b="0" i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41" name="Use 151"/>
          <p:cNvSpPr/>
          <p:nvPr/>
        </p:nvSpPr>
        <p:spPr>
          <a:xfrm>
            <a:off x="10195560" y="2798064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Excluídas</a:t>
            </a:r>
          </a:p>
        </p:txBody>
      </p:sp>
      <p:sp>
        <p:nvSpPr>
          <p:cNvPr id="42" name="Step number 152"/>
          <p:cNvSpPr/>
          <p:nvPr/>
        </p:nvSpPr>
        <p:spPr>
          <a:xfrm>
            <a:off x="548640" y="3383279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1" noProof="0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3" name="Question 153"/>
          <p:cNvSpPr/>
          <p:nvPr/>
        </p:nvSpPr>
        <p:spPr>
          <a:xfrm>
            <a:off x="987552" y="3291839"/>
            <a:ext cx="3520440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44" name="Question text 154"/>
          <p:cNvSpPr txBox="1"/>
          <p:nvPr/>
        </p:nvSpPr>
        <p:spPr>
          <a:xfrm>
            <a:off x="1115568" y="3455538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É o output de outro modelo ou fórmula?</a:t>
            </a:r>
          </a:p>
        </p:txBody>
      </p:sp>
      <p:sp>
        <p:nvSpPr>
          <p:cNvPr id="45" name="Arrow 155"/>
          <p:cNvSpPr/>
          <p:nvPr/>
        </p:nvSpPr>
        <p:spPr>
          <a:xfrm rot="5400000">
            <a:off x="4599432" y="3474720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46" name="Role 156"/>
          <p:cNvSpPr/>
          <p:nvPr/>
        </p:nvSpPr>
        <p:spPr>
          <a:xfrm>
            <a:off x="4846320" y="3291839"/>
            <a:ext cx="1965960" cy="512064"/>
          </a:xfrm>
          <a:prstGeom prst="roundRect">
            <a:avLst>
              <a:gd name="adj" fmla="val 15000"/>
            </a:avLst>
          </a:prstGeom>
          <a:solidFill>
            <a:srgbClr val="EEF3FF"/>
          </a:solidFill>
          <a:ln w="12700">
            <a:solidFill>
              <a:srgbClr val="37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47" name="Role count 157"/>
          <p:cNvSpPr txBox="1"/>
          <p:nvPr/>
        </p:nvSpPr>
        <p:spPr>
          <a:xfrm>
            <a:off x="4956048" y="3363205"/>
            <a:ext cx="5669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2400" b="1" i="0" noProof="0" dirty="0">
                <a:solidFill>
                  <a:srgbClr val="3777FF"/>
                </a:solidFill>
                <a:latin typeface="Arial"/>
              </a:rPr>
              <a:t>2</a:t>
            </a:r>
          </a:p>
        </p:txBody>
      </p:sp>
      <p:sp>
        <p:nvSpPr>
          <p:cNvPr id="48" name="Role name 158"/>
          <p:cNvSpPr txBox="1"/>
          <p:nvPr/>
        </p:nvSpPr>
        <p:spPr>
          <a:xfrm>
            <a:off x="5532120" y="3440149"/>
            <a:ext cx="12344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 err="1">
                <a:solidFill>
                  <a:srgbClr val="3777FF"/>
                </a:solidFill>
                <a:latin typeface="Arial"/>
              </a:rPr>
              <a:t>Benchmark</a:t>
            </a:r>
            <a:endParaRPr lang="pt-PT" sz="1400" b="1" i="0" noProof="0" dirty="0">
              <a:solidFill>
                <a:srgbClr val="3777FF"/>
              </a:solidFill>
              <a:latin typeface="Arial"/>
            </a:endParaRPr>
          </a:p>
        </p:txBody>
      </p:sp>
      <p:sp>
        <p:nvSpPr>
          <p:cNvPr id="49" name="Examples 159"/>
          <p:cNvSpPr txBox="1"/>
          <p:nvPr/>
        </p:nvSpPr>
        <p:spPr>
          <a:xfrm>
            <a:off x="6967728" y="3467080"/>
            <a:ext cx="3154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Churn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Score (AUC 0,941) e CLTV</a:t>
            </a:r>
          </a:p>
        </p:txBody>
      </p:sp>
      <p:sp>
        <p:nvSpPr>
          <p:cNvPr id="50" name="Use 160"/>
          <p:cNvSpPr/>
          <p:nvPr/>
        </p:nvSpPr>
        <p:spPr>
          <a:xfrm>
            <a:off x="10195560" y="3383279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Avaliação e priorização</a:t>
            </a:r>
          </a:p>
        </p:txBody>
      </p:sp>
      <p:sp>
        <p:nvSpPr>
          <p:cNvPr id="51" name="Step number 161"/>
          <p:cNvSpPr/>
          <p:nvPr/>
        </p:nvSpPr>
        <p:spPr>
          <a:xfrm>
            <a:off x="548640" y="3968496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1" noProof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2" name="Question 162"/>
          <p:cNvSpPr/>
          <p:nvPr/>
        </p:nvSpPr>
        <p:spPr>
          <a:xfrm>
            <a:off x="987552" y="3877056"/>
            <a:ext cx="3520440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53" name="Question text 163"/>
          <p:cNvSpPr txBox="1"/>
          <p:nvPr/>
        </p:nvSpPr>
        <p:spPr>
          <a:xfrm>
            <a:off x="1115568" y="4040755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Tem uma relação suspeita com o target?</a:t>
            </a:r>
          </a:p>
        </p:txBody>
      </p:sp>
      <p:sp>
        <p:nvSpPr>
          <p:cNvPr id="54" name="Arrow 164"/>
          <p:cNvSpPr/>
          <p:nvPr/>
        </p:nvSpPr>
        <p:spPr>
          <a:xfrm rot="5400000">
            <a:off x="4599432" y="4059936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55" name="Role 165"/>
          <p:cNvSpPr/>
          <p:nvPr/>
        </p:nvSpPr>
        <p:spPr>
          <a:xfrm>
            <a:off x="4846320" y="3877056"/>
            <a:ext cx="1965960" cy="512064"/>
          </a:xfrm>
          <a:prstGeom prst="roundRect">
            <a:avLst>
              <a:gd name="adj" fmla="val 15000"/>
            </a:avLst>
          </a:prstGeom>
          <a:solidFill>
            <a:srgbClr val="FFF4D6"/>
          </a:solidFill>
          <a:ln w="12700">
            <a:solidFill>
              <a:srgbClr val="B0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56" name="Role count 166"/>
          <p:cNvSpPr txBox="1"/>
          <p:nvPr/>
        </p:nvSpPr>
        <p:spPr>
          <a:xfrm>
            <a:off x="4956048" y="3948422"/>
            <a:ext cx="5669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2400" b="1" i="0" noProof="0" dirty="0">
                <a:solidFill>
                  <a:srgbClr val="B06E00"/>
                </a:solidFill>
                <a:latin typeface="Arial"/>
              </a:rPr>
              <a:t>1</a:t>
            </a:r>
          </a:p>
        </p:txBody>
      </p:sp>
      <p:sp>
        <p:nvSpPr>
          <p:cNvPr id="57" name="Role name 167"/>
          <p:cNvSpPr txBox="1"/>
          <p:nvPr/>
        </p:nvSpPr>
        <p:spPr>
          <a:xfrm>
            <a:off x="5532120" y="4025366"/>
            <a:ext cx="12344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B06E00"/>
                </a:solidFill>
                <a:latin typeface="Arial"/>
              </a:rPr>
              <a:t>Suspeita</a:t>
            </a:r>
          </a:p>
        </p:txBody>
      </p:sp>
      <p:sp>
        <p:nvSpPr>
          <p:cNvPr id="58" name="Examples 168"/>
          <p:cNvSpPr txBox="1"/>
          <p:nvPr/>
        </p:nvSpPr>
        <p:spPr>
          <a:xfrm>
            <a:off x="6967728" y="4052297"/>
            <a:ext cx="3154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Satisfaction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Score: scores 1–2 ⇒ 100%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churn</a:t>
            </a:r>
            <a:endParaRPr lang="pt-PT" sz="1050" b="0" i="0" noProof="0" dirty="0">
              <a:solidFill>
                <a:srgbClr val="17271E"/>
              </a:solidFill>
              <a:latin typeface="Arial"/>
            </a:endParaRPr>
          </a:p>
        </p:txBody>
      </p:sp>
      <p:sp>
        <p:nvSpPr>
          <p:cNvPr id="59" name="Use 169"/>
          <p:cNvSpPr/>
          <p:nvPr/>
        </p:nvSpPr>
        <p:spPr>
          <a:xfrm>
            <a:off x="10195560" y="3968496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Testar com e sem</a:t>
            </a:r>
          </a:p>
        </p:txBody>
      </p:sp>
      <p:sp>
        <p:nvSpPr>
          <p:cNvPr id="60" name="Step number 170"/>
          <p:cNvSpPr/>
          <p:nvPr/>
        </p:nvSpPr>
        <p:spPr>
          <a:xfrm>
            <a:off x="548640" y="4553712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1" noProof="0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1" name="Question 171"/>
          <p:cNvSpPr/>
          <p:nvPr/>
        </p:nvSpPr>
        <p:spPr>
          <a:xfrm>
            <a:off x="987552" y="4462272"/>
            <a:ext cx="3520440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62" name="Question text 172"/>
          <p:cNvSpPr txBox="1"/>
          <p:nvPr/>
        </p:nvSpPr>
        <p:spPr>
          <a:xfrm>
            <a:off x="1115568" y="4625971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Identifica o cliente?</a:t>
            </a:r>
          </a:p>
        </p:txBody>
      </p:sp>
      <p:sp>
        <p:nvSpPr>
          <p:cNvPr id="63" name="Arrow 173"/>
          <p:cNvSpPr/>
          <p:nvPr/>
        </p:nvSpPr>
        <p:spPr>
          <a:xfrm rot="5400000">
            <a:off x="4599432" y="4645152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64" name="Role 174"/>
          <p:cNvSpPr/>
          <p:nvPr/>
        </p:nvSpPr>
        <p:spPr>
          <a:xfrm>
            <a:off x="4846320" y="4462272"/>
            <a:ext cx="1965960" cy="512064"/>
          </a:xfrm>
          <a:prstGeom prst="roundRect">
            <a:avLst>
              <a:gd name="adj" fmla="val 15000"/>
            </a:avLst>
          </a:prstGeom>
          <a:solidFill>
            <a:srgbClr val="F4F5F6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65" name="Role count 175"/>
          <p:cNvSpPr txBox="1"/>
          <p:nvPr/>
        </p:nvSpPr>
        <p:spPr>
          <a:xfrm>
            <a:off x="4956048" y="4533638"/>
            <a:ext cx="5669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2400" b="1" i="0" noProof="0" dirty="0">
                <a:solidFill>
                  <a:srgbClr val="5F6368"/>
                </a:solidFill>
                <a:latin typeface="Arial"/>
              </a:rPr>
              <a:t>1</a:t>
            </a:r>
          </a:p>
        </p:txBody>
      </p:sp>
      <p:sp>
        <p:nvSpPr>
          <p:cNvPr id="66" name="Role name 176"/>
          <p:cNvSpPr txBox="1"/>
          <p:nvPr/>
        </p:nvSpPr>
        <p:spPr>
          <a:xfrm>
            <a:off x="5532120" y="4610582"/>
            <a:ext cx="12344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5F6368"/>
                </a:solidFill>
                <a:latin typeface="Arial"/>
              </a:rPr>
              <a:t>Identificador</a:t>
            </a:r>
          </a:p>
        </p:txBody>
      </p:sp>
      <p:sp>
        <p:nvSpPr>
          <p:cNvPr id="67" name="Examples 177"/>
          <p:cNvSpPr txBox="1"/>
          <p:nvPr/>
        </p:nvSpPr>
        <p:spPr>
          <a:xfrm>
            <a:off x="6967728" y="4637513"/>
            <a:ext cx="31546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Customer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ID</a:t>
            </a:r>
          </a:p>
        </p:txBody>
      </p:sp>
      <p:sp>
        <p:nvSpPr>
          <p:cNvPr id="68" name="Use 178"/>
          <p:cNvSpPr/>
          <p:nvPr/>
        </p:nvSpPr>
        <p:spPr>
          <a:xfrm>
            <a:off x="10195560" y="4553712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0" noProof="0" dirty="0">
                <a:solidFill>
                  <a:srgbClr val="5F6368"/>
                </a:solidFill>
                <a:latin typeface="Arial"/>
              </a:rPr>
              <a:t>Chave de ligação</a:t>
            </a:r>
          </a:p>
        </p:txBody>
      </p:sp>
      <p:sp>
        <p:nvSpPr>
          <p:cNvPr id="69" name="Step number 179"/>
          <p:cNvSpPr/>
          <p:nvPr/>
        </p:nvSpPr>
        <p:spPr>
          <a:xfrm>
            <a:off x="548640" y="5138927"/>
            <a:ext cx="329184" cy="329184"/>
          </a:xfrm>
          <a:prstGeom prst="ellips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1" noProof="0" dirty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0" name="Question 180"/>
          <p:cNvSpPr/>
          <p:nvPr/>
        </p:nvSpPr>
        <p:spPr>
          <a:xfrm>
            <a:off x="987552" y="5047488"/>
            <a:ext cx="3520440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000" noProof="0" dirty="0"/>
          </a:p>
        </p:txBody>
      </p:sp>
      <p:sp>
        <p:nvSpPr>
          <p:cNvPr id="71" name="Question text 181"/>
          <p:cNvSpPr txBox="1"/>
          <p:nvPr/>
        </p:nvSpPr>
        <p:spPr>
          <a:xfrm>
            <a:off x="1115568" y="5211187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200" b="0" i="0" noProof="0" dirty="0">
                <a:solidFill>
                  <a:srgbClr val="17271E"/>
                </a:solidFill>
                <a:latin typeface="Arial"/>
              </a:rPr>
              <a:t>Nenhuma das anteriores</a:t>
            </a:r>
          </a:p>
        </p:txBody>
      </p:sp>
      <p:sp>
        <p:nvSpPr>
          <p:cNvPr id="72" name="Arrow 182"/>
          <p:cNvSpPr/>
          <p:nvPr/>
        </p:nvSpPr>
        <p:spPr>
          <a:xfrm rot="5400000">
            <a:off x="4599432" y="5230368"/>
            <a:ext cx="128016" cy="146304"/>
          </a:xfrm>
          <a:prstGeom prst="triangle">
            <a:avLst/>
          </a:prstGeom>
          <a:solidFill>
            <a:srgbClr val="37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2000" noProof="0" dirty="0"/>
          </a:p>
        </p:txBody>
      </p:sp>
      <p:sp>
        <p:nvSpPr>
          <p:cNvPr id="73" name="Role 183"/>
          <p:cNvSpPr/>
          <p:nvPr/>
        </p:nvSpPr>
        <p:spPr>
          <a:xfrm>
            <a:off x="4846320" y="5047488"/>
            <a:ext cx="1965960" cy="512064"/>
          </a:xfrm>
          <a:prstGeom prst="roundRect">
            <a:avLst>
              <a:gd name="adj" fmla="val 15000"/>
            </a:avLst>
          </a:prstGeom>
          <a:solidFill>
            <a:srgbClr val="E8FBF1"/>
          </a:solidFill>
          <a:ln w="12700">
            <a:solidFill>
              <a:srgbClr val="00A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74" name="Role count 184"/>
          <p:cNvSpPr txBox="1"/>
          <p:nvPr/>
        </p:nvSpPr>
        <p:spPr>
          <a:xfrm>
            <a:off x="4956048" y="5118854"/>
            <a:ext cx="56692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2400" b="1" i="0" noProof="0" dirty="0">
                <a:solidFill>
                  <a:srgbClr val="00A847"/>
                </a:solidFill>
                <a:latin typeface="Arial"/>
              </a:rPr>
              <a:t>32</a:t>
            </a:r>
          </a:p>
        </p:txBody>
      </p:sp>
      <p:sp>
        <p:nvSpPr>
          <p:cNvPr id="75" name="Role name 185"/>
          <p:cNvSpPr txBox="1"/>
          <p:nvPr/>
        </p:nvSpPr>
        <p:spPr>
          <a:xfrm>
            <a:off x="5532120" y="5195798"/>
            <a:ext cx="12344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 err="1">
                <a:solidFill>
                  <a:srgbClr val="00A847"/>
                </a:solidFill>
                <a:latin typeface="Arial"/>
              </a:rPr>
              <a:t>Feature</a:t>
            </a:r>
            <a:endParaRPr lang="pt-PT" sz="1400" b="1" i="0" noProof="0" dirty="0">
              <a:solidFill>
                <a:srgbClr val="00A847"/>
              </a:solidFill>
              <a:latin typeface="Arial"/>
            </a:endParaRPr>
          </a:p>
        </p:txBody>
      </p:sp>
      <p:sp>
        <p:nvSpPr>
          <p:cNvPr id="76" name="Examples 186"/>
          <p:cNvSpPr txBox="1"/>
          <p:nvPr/>
        </p:nvSpPr>
        <p:spPr>
          <a:xfrm>
            <a:off x="6967728" y="5141937"/>
            <a:ext cx="315468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14 numéricas + 18 categóricas · + 4 criadas = 36 no modelo</a:t>
            </a:r>
          </a:p>
        </p:txBody>
      </p:sp>
      <p:sp>
        <p:nvSpPr>
          <p:cNvPr id="77" name="Use 187"/>
          <p:cNvSpPr/>
          <p:nvPr/>
        </p:nvSpPr>
        <p:spPr>
          <a:xfrm>
            <a:off x="10195560" y="5138927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0EE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pt-PT" sz="1000" b="1" noProof="0" dirty="0">
                <a:solidFill>
                  <a:srgbClr val="000000"/>
                </a:solidFill>
                <a:latin typeface="Arial"/>
              </a:rPr>
              <a:t>Entram no modelo</a:t>
            </a:r>
          </a:p>
        </p:txBody>
      </p:sp>
      <p:sp>
        <p:nvSpPr>
          <p:cNvPr id="78" name="Source note 188"/>
          <p:cNvSpPr txBox="1"/>
          <p:nvPr/>
        </p:nvSpPr>
        <p:spPr>
          <a:xfrm>
            <a:off x="548640" y="5779008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Ordem importa: </a:t>
            </a:r>
            <a:r>
              <a:rPr lang="pt-PT" sz="900" b="0" i="0" noProof="0" dirty="0" err="1">
                <a:solidFill>
                  <a:srgbClr val="5F6368"/>
                </a:solidFill>
                <a:latin typeface="Arial"/>
              </a:rPr>
              <a:t>City</a:t>
            </a:r>
            <a:r>
              <a:rPr lang="pt-PT" sz="900" b="0" i="0" noProof="0" dirty="0">
                <a:solidFill>
                  <a:srgbClr val="5F6368"/>
                </a:solidFill>
                <a:latin typeface="Arial"/>
              </a:rPr>
              <a:t> é uma característica do cliente, mas é catalogada como redundante no passo 2 (1.106 categorias, 949 com ≤ 5 clientes).</a:t>
            </a:r>
          </a:p>
        </p:txBody>
      </p:sp>
    </p:spTree>
    <p:extLst>
      <p:ext uri="{BB962C8B-B14F-4D97-AF65-F5344CB8AC3E}">
        <p14:creationId xmlns:p14="http://schemas.microsoft.com/office/powerpoint/2010/main" val="78912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E141-A044-B452-6E33-CFECA3FE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CF79FA-64D7-FD7C-38C5-66A4B392E22F}"/>
              </a:ext>
            </a:extLst>
          </p:cNvPr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kern="0" spc="200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EDSB 2026 – 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Projeto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Telco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Churn</a:t>
            </a:r>
            <a:endParaRPr lang="pt-PT" sz="1100" noProof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2E572C-E576-F7AF-A3B3-E27A76E40690}"/>
              </a:ext>
            </a:extLst>
          </p:cNvPr>
          <p:cNvSpPr/>
          <p:nvPr/>
        </p:nvSpPr>
        <p:spPr>
          <a:xfrm>
            <a:off x="530352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200" b="1" noProof="0" dirty="0">
                <a:solidFill>
                  <a:srgbClr val="17271E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Porque removemos </a:t>
            </a:r>
            <a:r>
              <a:rPr lang="pt-PT" sz="3200" b="1" noProof="0" dirty="0">
                <a:solidFill>
                  <a:srgbClr val="3876FF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18 colunas</a:t>
            </a:r>
            <a:endParaRPr lang="pt-PT" sz="3600" b="1" noProof="0" dirty="0">
              <a:solidFill>
                <a:srgbClr val="3876FF"/>
              </a:solidFill>
              <a:latin typeface="Borna" panose="020B0604020202020204" charset="0"/>
            </a:endParaRPr>
          </a:p>
        </p:txBody>
      </p:sp>
      <p:pic>
        <p:nvPicPr>
          <p:cNvPr id="20" name="Image 0" descr="assets/nova_dark.png">
            <a:extLst>
              <a:ext uri="{FF2B5EF4-FFF2-40B4-BE49-F238E27FC236}">
                <a16:creationId xmlns:a16="http://schemas.microsoft.com/office/drawing/2014/main" id="{92566E40-0264-41F5-FC86-AE15AAC37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91072"/>
            <a:ext cx="1371600" cy="184121"/>
          </a:xfrm>
          <a:prstGeom prst="rect">
            <a:avLst/>
          </a:prstGeom>
        </p:spPr>
      </p:pic>
      <p:sp>
        <p:nvSpPr>
          <p:cNvPr id="22" name="Text 19">
            <a:extLst>
              <a:ext uri="{FF2B5EF4-FFF2-40B4-BE49-F238E27FC236}">
                <a16:creationId xmlns:a16="http://schemas.microsoft.com/office/drawing/2014/main" id="{6AC3DB0E-42A7-4BCA-1C69-90A89378CA4A}"/>
              </a:ext>
            </a:extLst>
          </p:cNvPr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900" b="1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</a:t>
            </a:r>
            <a:endParaRPr lang="pt-PT" sz="900" noProof="0" dirty="0">
              <a:latin typeface="Arial" panose="020B0604020202020204" pitchFamily="34" charset="0"/>
            </a:endParaRPr>
          </a:p>
        </p:txBody>
      </p:sp>
      <p:sp>
        <p:nvSpPr>
          <p:cNvPr id="23" name="Reason card 189"/>
          <p:cNvSpPr/>
          <p:nvPr/>
        </p:nvSpPr>
        <p:spPr>
          <a:xfrm>
            <a:off x="548640" y="1783080"/>
            <a:ext cx="3566160" cy="3821102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noProof="0" dirty="0"/>
          </a:p>
        </p:txBody>
      </p:sp>
      <p:sp>
        <p:nvSpPr>
          <p:cNvPr id="24" name="Card count 190"/>
          <p:cNvSpPr txBox="1"/>
          <p:nvPr/>
        </p:nvSpPr>
        <p:spPr>
          <a:xfrm>
            <a:off x="749808" y="1895929"/>
            <a:ext cx="9144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4000" b="1" i="0" noProof="0" dirty="0">
                <a:solidFill>
                  <a:srgbClr val="D93025"/>
                </a:solidFill>
                <a:latin typeface="Arial"/>
              </a:rPr>
              <a:t>5</a:t>
            </a:r>
          </a:p>
        </p:txBody>
      </p:sp>
      <p:sp>
        <p:nvSpPr>
          <p:cNvPr id="25" name="Card title 191"/>
          <p:cNvSpPr txBox="1"/>
          <p:nvPr/>
        </p:nvSpPr>
        <p:spPr>
          <a:xfrm>
            <a:off x="1645919" y="1938528"/>
            <a:ext cx="2331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2000" b="1" i="0" noProof="0" dirty="0" err="1">
                <a:solidFill>
                  <a:srgbClr val="D93025"/>
                </a:solidFill>
                <a:latin typeface="Arial"/>
              </a:rPr>
              <a:t>Leakage</a:t>
            </a:r>
            <a:endParaRPr lang="pt-PT" sz="2000" b="1" i="0" noProof="0" dirty="0">
              <a:solidFill>
                <a:srgbClr val="D93025"/>
              </a:solidFill>
              <a:latin typeface="Arial"/>
            </a:endParaRPr>
          </a:p>
        </p:txBody>
      </p:sp>
      <p:sp>
        <p:nvSpPr>
          <p:cNvPr id="26" name="Card subtitle 192"/>
          <p:cNvSpPr txBox="1"/>
          <p:nvPr/>
        </p:nvSpPr>
        <p:spPr>
          <a:xfrm>
            <a:off x="1645919" y="2221991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 i="0" noProof="0" dirty="0">
                <a:solidFill>
                  <a:srgbClr val="17271E"/>
                </a:solidFill>
                <a:latin typeface="Arial"/>
              </a:rPr>
              <a:t>Dariam a resposta ao modelo</a:t>
            </a:r>
          </a:p>
        </p:txBody>
      </p:sp>
      <p:sp>
        <p:nvSpPr>
          <p:cNvPr id="27" name="Card item 193"/>
          <p:cNvSpPr txBox="1"/>
          <p:nvPr/>
        </p:nvSpPr>
        <p:spPr>
          <a:xfrm>
            <a:off x="749808" y="2624328"/>
            <a:ext cx="3163824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17271E"/>
                </a:solidFill>
                <a:latin typeface="Arial"/>
              </a:rPr>
              <a:t>O próprio resultado</a:t>
            </a:r>
          </a:p>
          <a:p>
            <a:pPr algn="l"/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Customer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Status ·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Churn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Label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·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Churn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Value</a:t>
            </a:r>
            <a:endParaRPr lang="pt-PT" sz="1100" b="0" i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28" name="Card item 194"/>
          <p:cNvSpPr txBox="1"/>
          <p:nvPr/>
        </p:nvSpPr>
        <p:spPr>
          <a:xfrm>
            <a:off x="749808" y="3187855"/>
            <a:ext cx="316382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17271E"/>
                </a:solidFill>
                <a:latin typeface="Arial"/>
              </a:rPr>
              <a:t>Só existem após a saída</a:t>
            </a:r>
          </a:p>
          <a:p>
            <a:pPr algn="l"/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Churn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Category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·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Churn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Reason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(vazias para quem fica)</a:t>
            </a:r>
          </a:p>
        </p:txBody>
      </p:sp>
      <p:sp>
        <p:nvSpPr>
          <p:cNvPr id="29" name="Card footer 195"/>
          <p:cNvSpPr/>
          <p:nvPr/>
        </p:nvSpPr>
        <p:spPr>
          <a:xfrm>
            <a:off x="713232" y="5041545"/>
            <a:ext cx="3236976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800" noProof="0" dirty="0"/>
          </a:p>
        </p:txBody>
      </p:sp>
      <p:sp>
        <p:nvSpPr>
          <p:cNvPr id="30" name="Card footer text 196"/>
          <p:cNvSpPr txBox="1"/>
          <p:nvPr/>
        </p:nvSpPr>
        <p:spPr>
          <a:xfrm>
            <a:off x="822959" y="5100868"/>
            <a:ext cx="30175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1" noProof="0" dirty="0">
                <a:solidFill>
                  <a:srgbClr val="17271E"/>
                </a:solidFill>
                <a:latin typeface="Arial"/>
              </a:rPr>
              <a:t>Com elas o AUC seria ≈ 1,0 em teste e o modelo inútil na prática.</a:t>
            </a:r>
          </a:p>
        </p:txBody>
      </p:sp>
      <p:sp>
        <p:nvSpPr>
          <p:cNvPr id="31" name="Reason card 197"/>
          <p:cNvSpPr/>
          <p:nvPr/>
        </p:nvSpPr>
        <p:spPr>
          <a:xfrm>
            <a:off x="4311396" y="1783080"/>
            <a:ext cx="3566160" cy="3821102"/>
          </a:xfrm>
          <a:prstGeom prst="roundRect">
            <a:avLst>
              <a:gd name="adj" fmla="val 6000"/>
            </a:avLst>
          </a:prstGeom>
          <a:solidFill>
            <a:srgbClr val="EEF3FF"/>
          </a:solidFill>
          <a:ln w="12700">
            <a:solidFill>
              <a:srgbClr val="37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noProof="0" dirty="0"/>
          </a:p>
        </p:txBody>
      </p:sp>
      <p:sp>
        <p:nvSpPr>
          <p:cNvPr id="32" name="Card count 198"/>
          <p:cNvSpPr txBox="1"/>
          <p:nvPr/>
        </p:nvSpPr>
        <p:spPr>
          <a:xfrm>
            <a:off x="4512564" y="1895929"/>
            <a:ext cx="9144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4000" b="1" i="0" noProof="0" dirty="0">
                <a:solidFill>
                  <a:srgbClr val="3777FF"/>
                </a:solidFill>
                <a:latin typeface="Arial"/>
              </a:rPr>
              <a:t>10</a:t>
            </a:r>
          </a:p>
        </p:txBody>
      </p:sp>
      <p:sp>
        <p:nvSpPr>
          <p:cNvPr id="33" name="Card title 199"/>
          <p:cNvSpPr txBox="1"/>
          <p:nvPr/>
        </p:nvSpPr>
        <p:spPr>
          <a:xfrm>
            <a:off x="5408676" y="1938528"/>
            <a:ext cx="2331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2000" b="1" i="0" noProof="0" dirty="0">
                <a:solidFill>
                  <a:srgbClr val="3777FF"/>
                </a:solidFill>
                <a:latin typeface="Arial"/>
              </a:rPr>
              <a:t>Redundantes</a:t>
            </a:r>
          </a:p>
        </p:txBody>
      </p:sp>
      <p:sp>
        <p:nvSpPr>
          <p:cNvPr id="34" name="Card subtitle 200"/>
          <p:cNvSpPr txBox="1"/>
          <p:nvPr/>
        </p:nvSpPr>
        <p:spPr>
          <a:xfrm>
            <a:off x="5408676" y="2221991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 i="0" noProof="0" dirty="0">
                <a:solidFill>
                  <a:srgbClr val="17271E"/>
                </a:solidFill>
                <a:latin typeface="Arial"/>
              </a:rPr>
              <a:t>Não acrescentam informação</a:t>
            </a:r>
          </a:p>
        </p:txBody>
      </p:sp>
      <p:sp>
        <p:nvSpPr>
          <p:cNvPr id="35" name="Card item 201"/>
          <p:cNvSpPr txBox="1"/>
          <p:nvPr/>
        </p:nvSpPr>
        <p:spPr>
          <a:xfrm>
            <a:off x="4512564" y="2624328"/>
            <a:ext cx="3163824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17271E"/>
                </a:solidFill>
                <a:latin typeface="Arial"/>
              </a:rPr>
              <a:t>Constantes</a:t>
            </a:r>
          </a:p>
          <a:p>
            <a:pPr algn="l"/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Country ·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State</a:t>
            </a:r>
            <a:endParaRPr lang="pt-PT" sz="1100" b="0" i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36" name="Card item 202"/>
          <p:cNvSpPr txBox="1"/>
          <p:nvPr/>
        </p:nvSpPr>
        <p:spPr>
          <a:xfrm>
            <a:off x="4512564" y="3145325"/>
            <a:ext cx="3163824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17271E"/>
                </a:solidFill>
                <a:latin typeface="Arial"/>
              </a:rPr>
              <a:t>Duplicadas</a:t>
            </a:r>
          </a:p>
          <a:p>
            <a:pPr algn="l"/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Lat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Long · Total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Revenue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(identidade exata)</a:t>
            </a:r>
          </a:p>
        </p:txBody>
      </p:sp>
      <p:sp>
        <p:nvSpPr>
          <p:cNvPr id="37" name="Card item 203"/>
          <p:cNvSpPr txBox="1"/>
          <p:nvPr/>
        </p:nvSpPr>
        <p:spPr>
          <a:xfrm>
            <a:off x="4512564" y="3676953"/>
            <a:ext cx="316382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17271E"/>
                </a:solidFill>
                <a:latin typeface="Arial"/>
              </a:rPr>
              <a:t>Derivações exatas (100%)</a:t>
            </a:r>
          </a:p>
          <a:p>
            <a:pPr algn="l"/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Under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30 ·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Senior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Citizen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·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Dependents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·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Referred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a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Friend</a:t>
            </a:r>
            <a:endParaRPr lang="pt-PT" sz="1100" b="0" i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38" name="Card item 204"/>
          <p:cNvSpPr txBox="1"/>
          <p:nvPr/>
        </p:nvSpPr>
        <p:spPr>
          <a:xfrm>
            <a:off x="4512564" y="4441655"/>
            <a:ext cx="3163824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17271E"/>
                </a:solidFill>
                <a:latin typeface="Arial"/>
              </a:rPr>
              <a:t>Identificador / alta cardinalidade</a:t>
            </a:r>
          </a:p>
          <a:p>
            <a:pPr algn="l"/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Zip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Code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·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City</a:t>
            </a:r>
            <a:endParaRPr lang="pt-PT" sz="1100" b="0" i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39" name="Card footer 205"/>
          <p:cNvSpPr/>
          <p:nvPr/>
        </p:nvSpPr>
        <p:spPr>
          <a:xfrm>
            <a:off x="4475988" y="5041545"/>
            <a:ext cx="3236976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800" noProof="0" dirty="0"/>
          </a:p>
        </p:txBody>
      </p:sp>
      <p:sp>
        <p:nvSpPr>
          <p:cNvPr id="40" name="Card footer text 206"/>
          <p:cNvSpPr txBox="1"/>
          <p:nvPr/>
        </p:nvSpPr>
        <p:spPr>
          <a:xfrm>
            <a:off x="4585716" y="5100868"/>
            <a:ext cx="30175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1" noProof="0" dirty="0">
                <a:solidFill>
                  <a:srgbClr val="17271E"/>
                </a:solidFill>
                <a:latin typeface="Arial"/>
              </a:rPr>
              <a:t>Mantemos a variável de origem: Age, Nº </a:t>
            </a:r>
            <a:r>
              <a:rPr lang="pt-PT" sz="1100" b="0" i="1" noProof="0" dirty="0" err="1">
                <a:solidFill>
                  <a:srgbClr val="17271E"/>
                </a:solidFill>
                <a:latin typeface="Arial"/>
              </a:rPr>
              <a:t>Dependents</a:t>
            </a:r>
            <a:r>
              <a:rPr lang="pt-PT" sz="1100" b="0" i="1" noProof="0" dirty="0">
                <a:solidFill>
                  <a:srgbClr val="17271E"/>
                </a:solidFill>
                <a:latin typeface="Arial"/>
              </a:rPr>
              <a:t>, Nº </a:t>
            </a:r>
            <a:r>
              <a:rPr lang="pt-PT" sz="1100" b="0" i="1" noProof="0" dirty="0" err="1">
                <a:solidFill>
                  <a:srgbClr val="17271E"/>
                </a:solidFill>
                <a:latin typeface="Arial"/>
              </a:rPr>
              <a:t>Referrals</a:t>
            </a:r>
            <a:r>
              <a:rPr lang="pt-PT" sz="1100" b="0" i="1" noProof="0" dirty="0">
                <a:solidFill>
                  <a:srgbClr val="17271E"/>
                </a:solidFill>
                <a:latin typeface="Arial"/>
              </a:rPr>
              <a:t>, </a:t>
            </a:r>
            <a:r>
              <a:rPr lang="pt-PT" sz="1100" b="0" i="1" noProof="0" dirty="0" err="1">
                <a:solidFill>
                  <a:srgbClr val="17271E"/>
                </a:solidFill>
                <a:latin typeface="Arial"/>
              </a:rPr>
              <a:t>Lat</a:t>
            </a:r>
            <a:r>
              <a:rPr lang="pt-PT" sz="1100" b="0" i="1" noProof="0" dirty="0">
                <a:solidFill>
                  <a:srgbClr val="17271E"/>
                </a:solidFill>
                <a:latin typeface="Arial"/>
              </a:rPr>
              <a:t>/Long.</a:t>
            </a:r>
          </a:p>
        </p:txBody>
      </p:sp>
      <p:sp>
        <p:nvSpPr>
          <p:cNvPr id="41" name="Reason card 207"/>
          <p:cNvSpPr/>
          <p:nvPr/>
        </p:nvSpPr>
        <p:spPr>
          <a:xfrm>
            <a:off x="8074152" y="1783079"/>
            <a:ext cx="3566160" cy="3821103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noProof="0" dirty="0"/>
          </a:p>
        </p:txBody>
      </p:sp>
      <p:sp>
        <p:nvSpPr>
          <p:cNvPr id="42" name="Card count 208"/>
          <p:cNvSpPr txBox="1"/>
          <p:nvPr/>
        </p:nvSpPr>
        <p:spPr>
          <a:xfrm>
            <a:off x="8275320" y="1895929"/>
            <a:ext cx="9144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4000" b="1" i="0" noProof="0" dirty="0">
                <a:solidFill>
                  <a:srgbClr val="5F6368"/>
                </a:solidFill>
                <a:latin typeface="Arial"/>
              </a:rPr>
              <a:t>3</a:t>
            </a:r>
          </a:p>
        </p:txBody>
      </p:sp>
      <p:sp>
        <p:nvSpPr>
          <p:cNvPr id="43" name="Card title 209"/>
          <p:cNvSpPr txBox="1"/>
          <p:nvPr/>
        </p:nvSpPr>
        <p:spPr>
          <a:xfrm>
            <a:off x="9171432" y="1938528"/>
            <a:ext cx="2331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2000" b="1" i="0" noProof="0" dirty="0" err="1">
                <a:solidFill>
                  <a:srgbClr val="5F6368"/>
                </a:solidFill>
                <a:latin typeface="Arial"/>
              </a:rPr>
              <a:t>Reporting</a:t>
            </a:r>
            <a:endParaRPr lang="pt-PT" sz="2000" b="1" i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44" name="Card subtitle 210"/>
          <p:cNvSpPr txBox="1"/>
          <p:nvPr/>
        </p:nvSpPr>
        <p:spPr>
          <a:xfrm>
            <a:off x="9171432" y="2221991"/>
            <a:ext cx="2331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0" i="0" noProof="0" dirty="0">
                <a:solidFill>
                  <a:srgbClr val="17271E"/>
                </a:solidFill>
                <a:latin typeface="Arial"/>
              </a:rPr>
              <a:t>Removidas antes da união</a:t>
            </a:r>
          </a:p>
        </p:txBody>
      </p:sp>
      <p:sp>
        <p:nvSpPr>
          <p:cNvPr id="45" name="Card item 211"/>
          <p:cNvSpPr txBox="1"/>
          <p:nvPr/>
        </p:nvSpPr>
        <p:spPr>
          <a:xfrm>
            <a:off x="8275320" y="2624328"/>
            <a:ext cx="3163824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17271E"/>
                </a:solidFill>
                <a:latin typeface="Arial"/>
              </a:rPr>
              <a:t>Campos de </a:t>
            </a:r>
            <a:r>
              <a:rPr lang="pt-PT" sz="1400" b="1" i="0" noProof="0" dirty="0" err="1">
                <a:solidFill>
                  <a:srgbClr val="17271E"/>
                </a:solidFill>
                <a:latin typeface="Arial"/>
              </a:rPr>
              <a:t>dashboard</a:t>
            </a:r>
            <a:endParaRPr lang="pt-PT" sz="1400" b="1" i="0" noProof="0" dirty="0">
              <a:solidFill>
                <a:srgbClr val="17271E"/>
              </a:solidFill>
              <a:latin typeface="Arial"/>
            </a:endParaRPr>
          </a:p>
          <a:p>
            <a:pPr algn="l"/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Count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(valor 1) ·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Quarter</a:t>
            </a:r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 (Q3)</a:t>
            </a:r>
          </a:p>
        </p:txBody>
      </p:sp>
      <p:sp>
        <p:nvSpPr>
          <p:cNvPr id="46" name="Card item 212"/>
          <p:cNvSpPr txBox="1"/>
          <p:nvPr/>
        </p:nvSpPr>
        <p:spPr>
          <a:xfrm>
            <a:off x="8275320" y="3219753"/>
            <a:ext cx="3163824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17271E"/>
                </a:solidFill>
                <a:latin typeface="Arial"/>
              </a:rPr>
              <a:t>Identificador técnico</a:t>
            </a:r>
          </a:p>
          <a:p>
            <a:pPr algn="l"/>
            <a:r>
              <a:rPr lang="pt-PT" sz="1100" b="0" i="0" noProof="0" dirty="0">
                <a:solidFill>
                  <a:srgbClr val="5F6368"/>
                </a:solidFill>
                <a:latin typeface="Arial"/>
              </a:rPr>
              <a:t>ID da tabela </a:t>
            </a:r>
            <a:r>
              <a:rPr lang="pt-PT" sz="1100" b="0" i="0" noProof="0" dirty="0" err="1">
                <a:solidFill>
                  <a:srgbClr val="5F6368"/>
                </a:solidFill>
                <a:latin typeface="Arial"/>
              </a:rPr>
              <a:t>Population</a:t>
            </a:r>
            <a:endParaRPr lang="pt-PT" sz="1100" b="0" i="0" noProof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47" name="Card footer 213"/>
          <p:cNvSpPr/>
          <p:nvPr/>
        </p:nvSpPr>
        <p:spPr>
          <a:xfrm>
            <a:off x="8238744" y="5041545"/>
            <a:ext cx="3236976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800" noProof="0" dirty="0"/>
          </a:p>
        </p:txBody>
      </p:sp>
      <p:sp>
        <p:nvSpPr>
          <p:cNvPr id="48" name="Card footer text 214"/>
          <p:cNvSpPr txBox="1"/>
          <p:nvPr/>
        </p:nvSpPr>
        <p:spPr>
          <a:xfrm>
            <a:off x="8348472" y="5100868"/>
            <a:ext cx="301752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100" b="0" i="1" noProof="0" dirty="0">
                <a:solidFill>
                  <a:srgbClr val="17271E"/>
                </a:solidFill>
                <a:latin typeface="Arial"/>
              </a:rPr>
              <a:t>Repetem-se entre ficheiros e não descrevem o cliente.</a:t>
            </a:r>
          </a:p>
        </p:txBody>
      </p:sp>
      <p:sp>
        <p:nvSpPr>
          <p:cNvPr id="49" name="Rule 215"/>
          <p:cNvSpPr/>
          <p:nvPr/>
        </p:nvSpPr>
        <p:spPr>
          <a:xfrm>
            <a:off x="548640" y="5716921"/>
            <a:ext cx="6583680" cy="548640"/>
          </a:xfrm>
          <a:prstGeom prst="roundRect">
            <a:avLst>
              <a:gd name="adj" fmla="val 20000"/>
            </a:avLst>
          </a:prstGeom>
          <a:solidFill>
            <a:srgbClr val="0EE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50" name="Rule text 216"/>
          <p:cNvSpPr txBox="1"/>
          <p:nvPr/>
        </p:nvSpPr>
        <p:spPr>
          <a:xfrm>
            <a:off x="749808" y="5775798"/>
            <a:ext cx="6309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400" b="1" i="0" noProof="0" dirty="0">
                <a:solidFill>
                  <a:srgbClr val="000000"/>
                </a:solidFill>
                <a:latin typeface="Arial"/>
              </a:rPr>
              <a:t>Teste aplicado: </a:t>
            </a:r>
            <a:r>
              <a:rPr lang="pt-PT" sz="1400" b="0" i="0" noProof="0" dirty="0">
                <a:solidFill>
                  <a:srgbClr val="000000"/>
                </a:solidFill>
                <a:latin typeface="Arial"/>
              </a:rPr>
              <a:t>conheço este valor no momento da intervenção, antes de o cliente sair?</a:t>
            </a:r>
          </a:p>
        </p:txBody>
      </p:sp>
      <p:sp>
        <p:nvSpPr>
          <p:cNvPr id="51" name="City note 217"/>
          <p:cNvSpPr/>
          <p:nvPr/>
        </p:nvSpPr>
        <p:spPr>
          <a:xfrm>
            <a:off x="7315200" y="5716921"/>
            <a:ext cx="432511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77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 sz="2400" noProof="0" dirty="0"/>
          </a:p>
        </p:txBody>
      </p:sp>
      <p:sp>
        <p:nvSpPr>
          <p:cNvPr id="52" name="City note text 218"/>
          <p:cNvSpPr txBox="1"/>
          <p:nvPr/>
        </p:nvSpPr>
        <p:spPr>
          <a:xfrm>
            <a:off x="7479792" y="5829658"/>
            <a:ext cx="406908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PT" sz="1050" b="1" i="0" noProof="0" dirty="0" err="1">
                <a:solidFill>
                  <a:srgbClr val="3777FF"/>
                </a:solidFill>
                <a:latin typeface="Arial"/>
              </a:rPr>
              <a:t>City</a:t>
            </a:r>
            <a:r>
              <a:rPr lang="pt-PT" sz="1050" b="1" i="0" noProof="0" dirty="0">
                <a:solidFill>
                  <a:srgbClr val="3777FF"/>
                </a:solidFill>
                <a:latin typeface="Arial"/>
              </a:rPr>
              <a:t>: 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San Diego tem 66,5% de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churn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vs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26,7% nas restantes → a testar como </a:t>
            </a:r>
            <a:r>
              <a:rPr lang="pt-PT" sz="1050" b="0" i="0" noProof="0" dirty="0" err="1">
                <a:solidFill>
                  <a:srgbClr val="17271E"/>
                </a:solidFill>
                <a:latin typeface="Arial"/>
              </a:rPr>
              <a:t>feature</a:t>
            </a:r>
            <a:r>
              <a:rPr lang="pt-PT" sz="1050" b="0" i="0" noProof="0" dirty="0">
                <a:solidFill>
                  <a:srgbClr val="17271E"/>
                </a:solidFill>
                <a:latin typeface="Arial"/>
              </a:rPr>
              <a:t> geográfica na modelação.</a:t>
            </a:r>
          </a:p>
        </p:txBody>
      </p:sp>
    </p:spTree>
    <p:extLst>
      <p:ext uri="{BB962C8B-B14F-4D97-AF65-F5344CB8AC3E}">
        <p14:creationId xmlns:p14="http://schemas.microsoft.com/office/powerpoint/2010/main" val="789129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2B17D5-9667-A5A9-82B7-55B53F98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28" y="2299481"/>
            <a:ext cx="10198070" cy="1887068"/>
          </a:xfrm>
        </p:spPr>
        <p:txBody>
          <a:bodyPr>
            <a:normAutofit/>
          </a:bodyPr>
          <a:lstStyle/>
          <a:p>
            <a:pPr algn="l"/>
            <a:r>
              <a:rPr lang="pt-PT" sz="4400" b="1" noProof="0" dirty="0">
                <a:solidFill>
                  <a:srgbClr val="00A847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Obrigado!</a:t>
            </a:r>
            <a:endParaRPr lang="pt-PT" noProof="0" dirty="0">
              <a:latin typeface="Borna" panose="020B0604020202020204" charset="0"/>
            </a:endParaRPr>
          </a:p>
        </p:txBody>
      </p:sp>
      <p:sp>
        <p:nvSpPr>
          <p:cNvPr id="3" name="Group Number">
            <a:extLst>
              <a:ext uri="{FF2B5EF4-FFF2-40B4-BE49-F238E27FC236}">
                <a16:creationId xmlns:a16="http://schemas.microsoft.com/office/drawing/2014/main" id="{7766BBB4-0B38-64A9-347C-C83904B3E2F0}"/>
              </a:ext>
            </a:extLst>
          </p:cNvPr>
          <p:cNvSpPr txBox="1">
            <a:spLocks/>
          </p:cNvSpPr>
          <p:nvPr/>
        </p:nvSpPr>
        <p:spPr>
          <a:xfrm>
            <a:off x="625641" y="4292338"/>
            <a:ext cx="5146140" cy="273051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317897" marR="0" indent="-332184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Tx/>
              <a:buBlip>
                <a:blip r:embed="rId2"/>
              </a:buBlip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499382" marR="0" indent="-232682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714375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894557" marR="0" indent="-269082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2514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29718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34290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38862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b="1" noProof="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Grupo EDSB26_G1 – TP2</a:t>
            </a:r>
            <a:endParaRPr lang="pt-PT" noProof="0" dirty="0"/>
          </a:p>
        </p:txBody>
      </p:sp>
      <p:sp>
        <p:nvSpPr>
          <p:cNvPr id="6" name="Google Shape;57;p13">
            <a:extLst>
              <a:ext uri="{FF2B5EF4-FFF2-40B4-BE49-F238E27FC236}">
                <a16:creationId xmlns:a16="http://schemas.microsoft.com/office/drawing/2014/main" id="{1077D201-3E65-2EAD-DBED-03797BA12E61}"/>
              </a:ext>
            </a:extLst>
          </p:cNvPr>
          <p:cNvSpPr txBox="1"/>
          <p:nvPr/>
        </p:nvSpPr>
        <p:spPr>
          <a:xfrm>
            <a:off x="627912" y="4558519"/>
            <a:ext cx="7250961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899" tIns="121899" rIns="121899" bIns="121899">
            <a:spAutoFit/>
          </a:bodyPr>
          <a:lstStyle/>
          <a:p>
            <a:pPr>
              <a:defRPr sz="160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Enterprise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Data </a:t>
            </a: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Science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</a:t>
            </a: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Bootcamp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</a:t>
            </a:r>
            <a:r>
              <a:rPr lang="pt-PT" noProof="0" dirty="0">
                <a:latin typeface="Arial" panose="020B0604020202020204" pitchFamily="34" charset="0"/>
                <a:cs typeface="Arial" panose="020B0604020202020204" pitchFamily="34" charset="0"/>
              </a:rPr>
              <a:t>EDSA/2026</a:t>
            </a:r>
          </a:p>
        </p:txBody>
      </p:sp>
    </p:spTree>
    <p:extLst>
      <p:ext uri="{BB962C8B-B14F-4D97-AF65-F5344CB8AC3E}">
        <p14:creationId xmlns:p14="http://schemas.microsoft.com/office/powerpoint/2010/main" val="38985038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996</Words>
  <Application>Microsoft Macintosh PowerPoint</Application>
  <PresentationFormat>Ecrã Panorâmico</PresentationFormat>
  <Paragraphs>194</Paragraphs>
  <Slides>6</Slides>
  <Notes>4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1" baseType="lpstr">
      <vt:lpstr>Arial</vt:lpstr>
      <vt:lpstr>Borna</vt:lpstr>
      <vt:lpstr>Helvetica Neue Light</vt:lpstr>
      <vt:lpstr>Office Theme</vt:lpstr>
      <vt:lpstr>Slide do think-cell</vt:lpstr>
      <vt:lpstr>Telco Customer Churn Retention Management  Grupo EDSB26_G1 – TP2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Lisbon Dining Insights — TheFork</dc:title>
  <dc:subject>PptxGenJS Presentation</dc:subject>
  <dc:creator>Group B1 — NOVA IMS</dc:creator>
  <cp:lastModifiedBy>Tiago Vacas Felgueira</cp:lastModifiedBy>
  <cp:revision>10</cp:revision>
  <dcterms:created xsi:type="dcterms:W3CDTF">2026-05-31T21:07:51Z</dcterms:created>
  <dcterms:modified xsi:type="dcterms:W3CDTF">2026-10-10T17:06:00Z</dcterms:modified>
</cp:coreProperties>
</file>